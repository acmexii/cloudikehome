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382512d2c34b2c" /><Relationship Type="http://schemas.openxmlformats.org/officeDocument/2006/relationships/extended-properties" Target="/docProps/app.xml" Id="R2b82b6f368ea43a4" /><Relationship Type="http://schemas.openxmlformats.org/officeDocument/2006/relationships/officeDocument" Target="/ppt/presentation.xml" Id="Rd09b02ae48844d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ec237d6a1b47fc"/>
  </p:sldMasterIdLst>
  <p:notesMasterIdLst>
    <p:notesMasterId xmlns:r="http://schemas.openxmlformats.org/officeDocument/2006/relationships" r:id="R994576e4016647d3"/>
  </p:notesMasterIdLst>
  <p:sldIdLst>
    <p:sldId xmlns:r="http://schemas.openxmlformats.org/officeDocument/2006/relationships" id="256" r:id="Re555f81694af4f5c"/>
    <p:sldId xmlns:r="http://schemas.openxmlformats.org/officeDocument/2006/relationships" id="257" r:id="R1e347bbbf2714ab7"/>
    <p:sldId xmlns:r="http://schemas.openxmlformats.org/officeDocument/2006/relationships" id="258" r:id="R1e07d9ca23dd4e34"/>
    <p:sldId xmlns:r="http://schemas.openxmlformats.org/officeDocument/2006/relationships" id="259" r:id="R9e84c67ec6b94745"/>
    <p:sldId xmlns:r="http://schemas.openxmlformats.org/officeDocument/2006/relationships" id="260" r:id="Rf2e3e2fa08944b85"/>
    <p:sldId xmlns:r="http://schemas.openxmlformats.org/officeDocument/2006/relationships" id="261" r:id="R32656fbe3c524c1d"/>
    <p:sldId xmlns:r="http://schemas.openxmlformats.org/officeDocument/2006/relationships" id="262" r:id="R6742f2557fb5440b"/>
    <p:sldId xmlns:r="http://schemas.openxmlformats.org/officeDocument/2006/relationships" id="263" r:id="Rdefd7aa0923a4d52"/>
    <p:sldId xmlns:r="http://schemas.openxmlformats.org/officeDocument/2006/relationships" id="264" r:id="R6035f9bee27a445c"/>
    <p:sldId xmlns:r="http://schemas.openxmlformats.org/officeDocument/2006/relationships" id="265" r:id="Rd1564ac72b45465b"/>
    <p:sldId xmlns:r="http://schemas.openxmlformats.org/officeDocument/2006/relationships" id="266" r:id="R7286df621b45446f"/>
    <p:sldId xmlns:r="http://schemas.openxmlformats.org/officeDocument/2006/relationships" id="267" r:id="R6ae00321e8af47f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693bdb34fe4d56" /><Relationship Type="http://schemas.openxmlformats.org/officeDocument/2006/relationships/slideMaster" Target="/ppt/slideMasters/slideMaster1.xml" Id="R8aec237d6a1b47fc" /><Relationship Type="http://schemas.openxmlformats.org/officeDocument/2006/relationships/notesMaster" Target="/ppt/notesMasters/notesMaster1.xml" Id="R994576e4016647d3" /><Relationship Type="http://schemas.openxmlformats.org/officeDocument/2006/relationships/presProps" Target="/ppt/presProps.xml" Id="Rdff3ddbab1454db1" /><Relationship Type="http://schemas.openxmlformats.org/officeDocument/2006/relationships/tableStyles" Target="/ppt/tableStyles.xml" Id="R2d9fd41d2e3e45ad" /><Relationship Type="http://schemas.openxmlformats.org/officeDocument/2006/relationships/slide" Target="/ppt/slides/slide1.xml" Id="Re555f81694af4f5c" /><Relationship Type="http://schemas.openxmlformats.org/officeDocument/2006/relationships/slide" Target="/ppt/slides/slide2.xml" Id="R1e347bbbf2714ab7" /><Relationship Type="http://schemas.openxmlformats.org/officeDocument/2006/relationships/slide" Target="/ppt/slides/slide3.xml" Id="R1e07d9ca23dd4e34" /><Relationship Type="http://schemas.openxmlformats.org/officeDocument/2006/relationships/slide" Target="/ppt/slides/slide4.xml" Id="R9e84c67ec6b94745" /><Relationship Type="http://schemas.openxmlformats.org/officeDocument/2006/relationships/slide" Target="/ppt/slides/slide5.xml" Id="Rf2e3e2fa08944b85" /><Relationship Type="http://schemas.openxmlformats.org/officeDocument/2006/relationships/slide" Target="/ppt/slides/slide6.xml" Id="R32656fbe3c524c1d" /><Relationship Type="http://schemas.openxmlformats.org/officeDocument/2006/relationships/slide" Target="/ppt/slides/slide7.xml" Id="R6742f2557fb5440b" /><Relationship Type="http://schemas.openxmlformats.org/officeDocument/2006/relationships/slide" Target="/ppt/slides/slide8.xml" Id="Rdefd7aa0923a4d52" /><Relationship Type="http://schemas.openxmlformats.org/officeDocument/2006/relationships/slide" Target="/ppt/slides/slide9.xml" Id="R6035f9bee27a445c" /><Relationship Type="http://schemas.openxmlformats.org/officeDocument/2006/relationships/slide" Target="/ppt/slides/slide10.xml" Id="Rd1564ac72b45465b" /><Relationship Type="http://schemas.openxmlformats.org/officeDocument/2006/relationships/slide" Target="/ppt/slides/slide11.xml" Id="R7286df621b45446f" /><Relationship Type="http://schemas.openxmlformats.org/officeDocument/2006/relationships/slide" Target="/ppt/slides/slide12.xml" Id="R6ae00321e8af47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914d9e101745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229a416bae4de6" /><Relationship Type="http://schemas.openxmlformats.org/officeDocument/2006/relationships/notesMaster" Target="/ppt/notesMasters/notesMaster1.xml" Id="R64438c007e294c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3dbcd278584f76" /><Relationship Type="http://schemas.openxmlformats.org/officeDocument/2006/relationships/notesMaster" Target="/ppt/notesMasters/notesMaster1.xml" Id="R9124257d4cbb40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eec3ddc6d542ff" /><Relationship Type="http://schemas.openxmlformats.org/officeDocument/2006/relationships/notesMaster" Target="/ppt/notesMasters/notesMaster1.xml" Id="R14df6ec08c1243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d9532cfc5742d6" /><Relationship Type="http://schemas.openxmlformats.org/officeDocument/2006/relationships/notesMaster" Target="/ppt/notesMasters/notesMaster1.xml" Id="R56c5106f607549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9c2cf6e9c7448f" /><Relationship Type="http://schemas.openxmlformats.org/officeDocument/2006/relationships/notesMaster" Target="/ppt/notesMasters/notesMaster1.xml" Id="R82be4dd2ceab49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09fe24f36e4513" /><Relationship Type="http://schemas.openxmlformats.org/officeDocument/2006/relationships/notesMaster" Target="/ppt/notesMasters/notesMaster1.xml" Id="Rb4e28268d84641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5b9b1e97084cae" /><Relationship Type="http://schemas.openxmlformats.org/officeDocument/2006/relationships/notesMaster" Target="/ppt/notesMasters/notesMaster1.xml" Id="R4fad7d42cd0247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51a780c02c4c10" /><Relationship Type="http://schemas.openxmlformats.org/officeDocument/2006/relationships/notesMaster" Target="/ppt/notesMasters/notesMaster1.xml" Id="Rc2e7cddade244d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13b01469274c3f" /><Relationship Type="http://schemas.openxmlformats.org/officeDocument/2006/relationships/notesMaster" Target="/ppt/notesMasters/notesMaster1.xml" Id="Raea1ef3b25664f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72ec50087d4423" /><Relationship Type="http://schemas.openxmlformats.org/officeDocument/2006/relationships/notesMaster" Target="/ppt/notesMasters/notesMaster1.xml" Id="Rd61ad02864684e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7b4a267eb84324" /><Relationship Type="http://schemas.openxmlformats.org/officeDocument/2006/relationships/notesMaster" Target="/ppt/notesMasters/notesMaster1.xml" Id="Rb56dfc90840546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cb18a1788a4d70" /><Relationship Type="http://schemas.openxmlformats.org/officeDocument/2006/relationships/notesMaster" Target="/ppt/notesMasters/notesMaster1.xml" Id="R6d9d4258728140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회사와 제품 계층, 적용 사례, 주요 기능, 사전 질의에 대한 상세 답변, 증권 샘플 순서로 설명합니다. 핵심은 초기 그래프 생성뿐 아니라 변경 이후의 검증과 운영입니다.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</a:t>
            </a:r>
          </a:p>
          <a:p xmlns:a="http://schemas.openxmlformats.org/drawingml/2006/main">
            <a:r>
              <a:t>/Users/uengine/uengine-platform/demo-securities/requirement/Requirement.md</a:t>
            </a:r>
          </a:p>
          <a:p xmlns:a="http://schemas.openxmlformats.org/drawingml/2006/main">
            <a:r>
              <a:t>/Users/uengine/Downloads/MSASchool_교과정제안서수정본 (2).pdf (표지 사진 및 디자인 참조, 교육 브랜드 로고는 유엔진 로고로 대체)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https://acmexii.github.io/cloudikehome/app/dashboard/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https://acmexii.github.io/cloudikehome/app/documents/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https://acmexii.github.io/cloudikehome/app/shared-documents/by-me/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https://acmexii.github.io/cloudikehome/app/company-folder/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https://acmexii.github.io/cloudikehome/app/clipbook/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https://acmexii.github.io/cloudikehome/app/settings/team-management/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https://acmexii.github.io/cloudikehome/app/settings/company/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https://acmexii.github.io/cloudikehome/app/settings/activity-logs/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https://acmexii.github.io/cloudikehome/app/settings/backup/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https://acmexii.github.io/cloudikehome/app/settings/profile/</a:t>
            </a:r>
          </a:p>
          <a:p xmlns:a="http://schemas.openxmlformats.org/drawingml/2006/main">
            <a:r>
              <a:t>Captured 2026-10-25 KST. Numbered screen and matching detailed descriptions are on the same slide. Explanation body 14pt. Static demo only.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https://acmexii.github.io/cloudikehome/app/pages/ and visible trial limitations. Font fallback: Malgun Gothic.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66e6392ffd49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bcd86dace94caa" /><Relationship Type="http://schemas.openxmlformats.org/officeDocument/2006/relationships/slideLayout" Target="/ppt/slideLayouts/slideLayout1.xml" Id="R650b252a5fd14a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0b252a5fd14a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88edb7f5c4796" /><Relationship Type="http://schemas.openxmlformats.org/officeDocument/2006/relationships/image" Target="/ppt/media/image.png" Id="R8b9181ec87464060" /><Relationship Type="http://schemas.openxmlformats.org/officeDocument/2006/relationships/image" Target="/ppt/media/image2.png" Id="R19bc276b74e44638" /><Relationship Type="http://schemas.openxmlformats.org/officeDocument/2006/relationships/notesSlide" Target="/ppt/notesSlides/notesSlide1.xml" Id="Rf49378330ea147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62d17c19c411f" /><Relationship Type="http://schemas.openxmlformats.org/officeDocument/2006/relationships/image" Target="/ppt/media/image3.png" Id="R5072f0629729404e" /><Relationship Type="http://schemas.openxmlformats.org/officeDocument/2006/relationships/image" Target="/ppt/media/image.jpeg" Id="R25e0b8f537474bdb" /><Relationship Type="http://schemas.openxmlformats.org/officeDocument/2006/relationships/notesSlide" Target="/ppt/notesSlides/notesSlide2.xml" Id="R615e145b4f9f45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7753b13c944e8" /><Relationship Type="http://schemas.openxmlformats.org/officeDocument/2006/relationships/image" Target="/ppt/media/image4.png" Id="Rcbf79f191b8d4de3" /><Relationship Type="http://schemas.openxmlformats.org/officeDocument/2006/relationships/image" Target="/ppt/media/image2.jpeg" Id="Rb820f6d8aef34c66" /><Relationship Type="http://schemas.openxmlformats.org/officeDocument/2006/relationships/notesSlide" Target="/ppt/notesSlides/notesSlide3.xml" Id="Rca4e91242f5a46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2f697b7dc4d4f" /><Relationship Type="http://schemas.openxmlformats.org/officeDocument/2006/relationships/image" Target="/ppt/media/image5.png" Id="R90e7c249ddfa4244" /><Relationship Type="http://schemas.openxmlformats.org/officeDocument/2006/relationships/image" Target="/ppt/media/image3.jpeg" Id="R82ba567f5b734ba7" /><Relationship Type="http://schemas.openxmlformats.org/officeDocument/2006/relationships/notesSlide" Target="/ppt/notesSlides/notesSlide4.xml" Id="Rf90b9e1807ba44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a483ceaae4291" /><Relationship Type="http://schemas.openxmlformats.org/officeDocument/2006/relationships/image" Target="/ppt/media/image6.png" Id="Rcf53421b8c7e4efc" /><Relationship Type="http://schemas.openxmlformats.org/officeDocument/2006/relationships/image" Target="/ppt/media/image4.jpeg" Id="Rf9c6affd3f0d4af4" /><Relationship Type="http://schemas.openxmlformats.org/officeDocument/2006/relationships/notesSlide" Target="/ppt/notesSlides/notesSlide5.xml" Id="Re556cb851ba244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8cf8072804d5b" /><Relationship Type="http://schemas.openxmlformats.org/officeDocument/2006/relationships/image" Target="/ppt/media/image7.png" Id="Re3bb6576e4744b20" /><Relationship Type="http://schemas.openxmlformats.org/officeDocument/2006/relationships/image" Target="/ppt/media/image5.jpeg" Id="R02db1dfce76842b7" /><Relationship Type="http://schemas.openxmlformats.org/officeDocument/2006/relationships/notesSlide" Target="/ppt/notesSlides/notesSlide6.xml" Id="R826a036f38464a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f7b753263470d" /><Relationship Type="http://schemas.openxmlformats.org/officeDocument/2006/relationships/image" Target="/ppt/media/image8.png" Id="R353dd402ceb14b35" /><Relationship Type="http://schemas.openxmlformats.org/officeDocument/2006/relationships/image" Target="/ppt/media/image6.jpeg" Id="Rfba999a6a9de4523" /><Relationship Type="http://schemas.openxmlformats.org/officeDocument/2006/relationships/notesSlide" Target="/ppt/notesSlides/notesSlide7.xml" Id="R498aa27b7c844a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905f29e404525" /><Relationship Type="http://schemas.openxmlformats.org/officeDocument/2006/relationships/image" Target="/ppt/media/image9.png" Id="Re1a12430e2044aeb" /><Relationship Type="http://schemas.openxmlformats.org/officeDocument/2006/relationships/image" Target="/ppt/media/image7.jpeg" Id="Rcd6bcf38e6974e31" /><Relationship Type="http://schemas.openxmlformats.org/officeDocument/2006/relationships/notesSlide" Target="/ppt/notesSlides/notesSlide8.xml" Id="R166c11731ba44d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2a6a9c18e4521" /><Relationship Type="http://schemas.openxmlformats.org/officeDocument/2006/relationships/image" Target="/ppt/media/image10.png" Id="Ra6e03c6764934e82" /><Relationship Type="http://schemas.openxmlformats.org/officeDocument/2006/relationships/image" Target="/ppt/media/image8.jpeg" Id="R0b4677c81b7e442f" /><Relationship Type="http://schemas.openxmlformats.org/officeDocument/2006/relationships/notesSlide" Target="/ppt/notesSlides/notesSlide9.xml" Id="Rf7c89197037b4e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9a48f45be4498" /><Relationship Type="http://schemas.openxmlformats.org/officeDocument/2006/relationships/image" Target="/ppt/media/image11.png" Id="R7dce3774c68d4f35" /><Relationship Type="http://schemas.openxmlformats.org/officeDocument/2006/relationships/image" Target="/ppt/media/image9.jpeg" Id="R155974171603446c" /><Relationship Type="http://schemas.openxmlformats.org/officeDocument/2006/relationships/notesSlide" Target="/ppt/notesSlides/notesSlide10.xml" Id="Rbdad4c7c208d44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5fc922edf4d29" /><Relationship Type="http://schemas.openxmlformats.org/officeDocument/2006/relationships/image" Target="/ppt/media/image12.png" Id="R49838daf9f664c53" /><Relationship Type="http://schemas.openxmlformats.org/officeDocument/2006/relationships/image" Target="/ppt/media/image10.jpeg" Id="R4b55cf57dfad461e" /><Relationship Type="http://schemas.openxmlformats.org/officeDocument/2006/relationships/notesSlide" Target="/ppt/notesSlides/notesSlide11.xml" Id="Rc8ea9c457caf48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d4d4719204147" /><Relationship Type="http://schemas.openxmlformats.org/officeDocument/2006/relationships/image" Target="/ppt/media/image13.png" Id="R1baf2fbd23434019" /><Relationship Type="http://schemas.openxmlformats.org/officeDocument/2006/relationships/notesSlide" Target="/ppt/notesSlides/notesSlide12.xml" Id="Ra3796e7d37334e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36FAC-06A0-4384-91AC-AA46675AF8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9181ec87464060"/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DCA7D-932C-4BA7-B686-F33904E0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클라우다이크 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5DA40-9B37-4CFA-AB3C-6E81953D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화면으로 이해하는</a:t>
            </a:r>
          </a:p>
          <a:p xmlns:a="http://schemas.openxmlformats.org/drawingml/2006/main">
            <a:pPr>
              <a:def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주요 기능과 사용 안내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DBA63-F3EB-419F-BEA9-09B580F0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7687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번호와 상세 설명을 같은 페이지에서 확인하세요.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5E633B-39AE-4D46-887D-C15EB57506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c276b74e44638"/>
          <a:stretch xmlns:a="http://schemas.openxmlformats.org/drawingml/2006/main"/>
        </p:blipFill>
        <p:spPr>
          <a:xfrm xmlns:a="http://schemas.openxmlformats.org/drawingml/2006/main">
            <a:off x="800100" y="6667500"/>
            <a:ext cx="2695575" cy="5143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CED9D-5256-4CBC-ACA3-5335AC0E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8667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앱 기능소개 개정판  /  2026.10</a:t>
            </a:r>
          </a:p>
        </p:txBody>
      </p:sp>
    </p:spTree>
    <p:extLst>
      <p:ext uri="{BB962C8B-B14F-4D97-AF65-F5344CB8AC3E}">
        <p14:creationId xmlns:p14="http://schemas.microsoft.com/office/powerpoint/2010/main" val="2007744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637CD-D428-4E3A-A92E-9E504BA5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5AAA6-396A-4A78-AE92-60C724AC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대시보드에서 사용 현황을 한눈에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809A7A-E57F-4402-8B53-51D24799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개인·기업 용량과 트래픽, 최근 업로드 파일을 함께 확인합니다.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7DD8B-AFAC-482E-A07E-E5C0B0473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2f0629729404e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36994-02EE-47F3-9F6E-2ADF92DE69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e0b8f537474bdb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2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01B449CC-3A22-4146-98B4-37DF575A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3" name="Callout 1">
            <a:extLst xmlns:a="http://schemas.openxmlformats.org/drawingml/2006/main">
              <a:ext uri="{FF2B5EF4-FFF2-40B4-BE49-F238E27FC236}">
                <a16:creationId xmlns:a16="http://schemas.microsoft.com/office/drawing/2014/main" id="{C5E967CA-8838-460C-A702-13EC2F69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8754D73F-1D9A-4EB6-A722-D6F5C31A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040978-0010-454E-B45B-B5A03A3E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 현황</a:t>
            </a:r>
          </a:p>
        </p:txBody>
      </p:sp>
      <p:sp>
        <p:nvSpPr>
          <p:cNvPr id="26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847DC630-A2FA-4861-B5D8-6EF2F6F2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상단의 개인 용량·기업 용량·트래픽 카드에서 사용량과 최대 용량을 비교합니다. 저장 공간과 전송량의 현재 상태를 구분해 파악할 수 있습니다. 화면의 10GB 등 수치는 실습 계정의 예시입니다.</a:t>
            </a:r>
          </a:p>
        </p:txBody>
      </p:sp>
      <p:sp>
        <p:nvSpPr>
          <p:cNvPr id="27" name="Callout 2">
            <a:extLst xmlns:a="http://schemas.openxmlformats.org/drawingml/2006/main">
              <a:ext uri="{FF2B5EF4-FFF2-40B4-BE49-F238E27FC236}">
                <a16:creationId xmlns:a16="http://schemas.microsoft.com/office/drawing/2014/main" id="{6DCDF9B5-0463-4C95-AFDC-255F6D0B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4633122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007F0774-5C89-48F8-8B17-5631C860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1543F4-11EF-4A54-824F-F17FF38B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최근 업로드된 파일</a:t>
            </a:r>
          </a:p>
        </p:txBody>
      </p:sp>
      <p:sp>
        <p:nvSpPr>
          <p:cNvPr id="30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B1191BE-9FE6-488D-A64F-8D5B0E95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하단 목록에서 파일명·경로·작성자·크기·수정일을 확인합니다. 경로 링크로 문서함에 이동할 수 있고, 우측 검색·목록 표시 아이콘으로 필요한 항목을 찾는 화면 구성을 제공합니다.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563A81-034A-4D0A-9315-69D45836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35D4F3-046E-4EF8-82B5-8E522586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27078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4D67E1-C0E9-44F1-BDEB-29DE7EC2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BA53E-4710-4BC1-BF4D-B43D3B2B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모든 문서함에서 업무 파일 정리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056D9-2FE0-4AEF-8915-AC927815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새 항목 메뉴와 파일 목록으로 문서의 기본 정보를 살펴봅니다.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E35F6C-B72A-4E8B-85BC-44A8F5DAE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79f191b8d4de3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4058FB-4AC3-450C-8955-C8766D943C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20f6d8aef34c66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2EEA15D5-E225-4018-8958-163146A2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99627FCF-8891-47B8-8ADF-CC3D75F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9108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Callout 1">
            <a:extLst xmlns:a="http://schemas.openxmlformats.org/drawingml/2006/main">
              <a:ext uri="{FF2B5EF4-FFF2-40B4-BE49-F238E27FC236}">
                <a16:creationId xmlns:a16="http://schemas.microsoft.com/office/drawing/2014/main" id="{475EF550-ECAF-4814-9342-6CE0143C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E8E75-1085-428E-B2C7-0E114235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새 폴더·새 파일</a:t>
            </a:r>
          </a:p>
        </p:txBody>
      </p:sp>
      <p:sp>
        <p:nvSpPr>
          <p:cNvPr id="2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0ECEAE1-0940-48AA-AB46-2B054E6E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문서함 상단에 새 폴더와 새 파일 메뉴가 있습니다. 좌측 업로드 메뉴는 폴더와 파일을 구분합니다. 실습 사본에서는 업로드나 새 문서 저장이 실행되지 않습니다.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9D326355-567C-4107-BF89-8474132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3036624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Callout 2">
            <a:extLst xmlns:a="http://schemas.openxmlformats.org/drawingml/2006/main">
              <a:ext uri="{FF2B5EF4-FFF2-40B4-BE49-F238E27FC236}">
                <a16:creationId xmlns:a16="http://schemas.microsoft.com/office/drawing/2014/main" id="{AD6E293D-BA07-402C-8FA0-CCEB99F9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725E0F-E01E-4D5B-9079-AA9075F4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문서 목록과 찾기</a:t>
            </a:r>
          </a:p>
        </p:txBody>
      </p:sp>
      <p:sp>
        <p:nvSpPr>
          <p:cNvPr id="3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DFF2ABD-6710-4435-950C-01943463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파일명·작성자·크기·수정일·링크 열을 비교해 문서를 식별합니다. 상단 우측의 검색과 표시 메뉴를 함께 확인하고, 선택 상자로 작업 대상을 구분하는 구성을 살펴봅니다.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BCF5AC-3733-49B6-97E1-F72838D4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8C111E-126C-4D48-8551-BF7DD6CF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78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282D6-E8B1-492F-9B10-0D8A29E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5A962A-AB56-43E3-A4DE-1CB66BF7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공유한 문서와 받은 문서를 구분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16E5EA-A2D7-4F5C-B590-F9EB5636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문서함의 하위 메뉴에서 공유 방향과 링크를 나눠 봅니다.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20B30-6126-41D3-AD8D-867C55E583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7c249ddfa4244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692ED-3AD3-42CA-AB0E-9B0D0FB5F1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a567f5b734ba7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777442EA-437F-4BB4-B464-8447E5EE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4" name="Callout 1">
            <a:extLst xmlns:a="http://schemas.openxmlformats.org/drawingml/2006/main">
              <a:ext uri="{FF2B5EF4-FFF2-40B4-BE49-F238E27FC236}">
                <a16:creationId xmlns:a16="http://schemas.microsoft.com/office/drawing/2014/main" id="{D614989B-C008-4789-8E72-AA6F0441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900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5" name="Callout 1">
            <a:extLst xmlns:a="http://schemas.openxmlformats.org/drawingml/2006/main">
              <a:ext uri="{FF2B5EF4-FFF2-40B4-BE49-F238E27FC236}">
                <a16:creationId xmlns:a16="http://schemas.microsoft.com/office/drawing/2014/main" id="{1A750268-87FA-4925-9D1D-2F562B3D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61526-6365-4F01-8F38-C7D35069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방향 선택</a:t>
            </a:r>
          </a:p>
        </p:txBody>
      </p:sp>
      <p:sp>
        <p:nvSpPr>
          <p:cNvPr id="2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2064EF31-5EBC-423D-A54A-EE460EE1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공유 문서함 아래의 공유한 폴더/파일, 공유받은 폴더/파일, 공유링크 메뉴를 선택해 탐색합니다. 내가 제공한 항목과 전달받은 항목을 구분해 찾는 구조입니다.</a:t>
            </a:r>
          </a:p>
        </p:txBody>
      </p:sp>
      <p:sp>
        <p:nvSpPr>
          <p:cNvPr id="28" name="Callout 2">
            <a:extLst xmlns:a="http://schemas.openxmlformats.org/drawingml/2006/main">
              <a:ext uri="{FF2B5EF4-FFF2-40B4-BE49-F238E27FC236}">
                <a16:creationId xmlns:a16="http://schemas.microsoft.com/office/drawing/2014/main" id="{F3BD7140-47B2-4D91-8269-7BB691DE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66873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" name="Callout 2">
            <a:extLst xmlns:a="http://schemas.openxmlformats.org/drawingml/2006/main">
              <a:ext uri="{FF2B5EF4-FFF2-40B4-BE49-F238E27FC236}">
                <a16:creationId xmlns:a16="http://schemas.microsoft.com/office/drawing/2014/main" id="{E34A9A76-F4CE-4783-92A5-6EFF0284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6AF722-855B-40FF-8418-728121CB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공유 목록 확인</a:t>
            </a:r>
          </a:p>
        </p:txBody>
      </p:sp>
      <p:sp>
        <p:nvSpPr>
          <p:cNvPr id="3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1F494C3-1616-4BC4-9AE4-4D02730D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목록의 이름·소유자·크기·수정일로 항목을 확인합니다. 현재 예시는 공유 항목이 없어 안내 문구가 표시됩니다. 빈 목록은 공유 기능 자체가 없다는 뜻이 아닙니다.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DF7D71-28DC-4522-A42C-99AFD014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91EFDB-B4B5-4285-8F19-744872B3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008664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2D7DE-9D8F-4981-8DA4-B020BAB5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96627-F7DE-41D2-BA8A-6EA90CC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문서함으로 조직 문서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3A49E6-29AA-48E6-AEC2-A8F09E4B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개인 문서함과 별도로 기업 문서의 목록을 확인하는 영역입니다.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1E5C01-CD6F-4C42-A596-C9B02C7925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3421b8c7e4efc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EE6B0E-7539-43AA-9414-44535322D2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6affd3f0d4af4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D1D7223D-5927-4D4F-8CAE-C8F6A6D3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10AF53A6-FEF9-4BD2-852F-FD8724A4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4296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A714E65C-2CD0-4AF5-81D9-0261BB18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7D0058-D6FB-4E5E-BB86-774BB213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문서함 진입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369D279C-546F-42FD-83CA-01FB1392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좌측 기업 문서함 메뉴에서 조직 문서 영역을 엽니다. 모든 문서함과 위치를 구분해 기업 단위 문서를 탐색하는 화면이며, 실제 접근 범위는 계정 권한에 따라 확인해야 합니다.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3BB04748-27CB-457F-8FA4-9C352549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66873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98BB212A-E542-4E06-87C2-82759276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4EC102-C146-4E0D-B696-7970868A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목록과 빈 상태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33C2A6F4-B0AA-4DC9-A465-9F44C1F3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문서가 있으면 이름·소유자·수정일을 기준으로 살펴보는 목록입니다. 실습 화면에는 기업 문서함이 비어 있다는 안내가 표시되며, 실제 기업 문서를 포함하지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7D27BC-B0B0-45E9-93B9-AD425CBF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3C6D2D-BFD0-4254-98B9-F63456A6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97098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A61ED-F2CF-45F9-A695-3AACE507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48484-37D6-4F1F-A390-BA87747F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웹에서 찾은 정보를 클립북에 보관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6A2F3-407C-4B7D-9940-BC045A7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Chrome 확장 프로그램의 저장 흐름과 보관 위치를 안내합니다.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45DA9-FBDF-40DE-9121-517E207AF3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b6576e4744b20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6D1443-8AF0-4DD5-9A3E-772E51DABE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b1dfce76842b7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9283713-FB1D-4B7E-A51E-7F39F08D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CFBA9E07-1671-4695-9054-8443C8C3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119" y="442488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4A968158-6DF0-4D32-8854-ED48B6CC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124673-371E-4DEC-8B20-DB9C68E0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확장 프로그램 안내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6AA0ABC9-2518-444F-A9C7-6608C05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클립북은 웹 콘텐츠를 클라우다이크에 저장하는 Chrome 확장 프로그램입니다. 화면의 다운로드·자세히 보기 메뉴에서 이용 안내를 확인하는 구조이며, 실습 사본의 외부 연결은 비활성화되어 있습니다.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61B1036D-7B99-4333-A618-3379BBAD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119" y="5049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A699A23D-99A9-4D6F-AA7C-7FC119E8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C7E779-D52F-4C61-9E72-89542E44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저장 흐름과 확인 위치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AE8FB8D0-32BA-4558-8101-15B6170D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안내 순서는 확장 프로그램 설치, 웹 페이지에서 클립북 아이콘으로 저장, 모든 문서함의 ClipBook 폴더에서 확인입니다. 웹 스크랩·스크린샷·기사 저장 방식을 소개하며 이 화면에서 실제 저장을 실행하지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D8209-2ACC-4F60-9E34-782379D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5609B9-D467-4C64-91AB-4AD16066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051694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DF1E9-A86B-4199-80B4-3BF95988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3B756-402B-4EF1-8ADA-28B5D27E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팀원·그룹·조직을 한곳에서 관리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7575C-EC78-4D56-ABC0-18261980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관리 대상 선택과 구성원 목록, 팀원 등록 메뉴를 살펴봅니다.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4A86B2-EAAE-43D2-A117-3A4C65C3AC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dd402ceb14b3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DA689-EA06-4783-9DF7-2BCD67379C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999a6a9de4523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4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751953AA-6F08-4D4D-AB2B-5D31C67D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DB131FAE-2817-4C8C-9427-BC48845F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Callout 1">
            <a:extLst xmlns:a="http://schemas.openxmlformats.org/drawingml/2006/main">
              <a:ext uri="{FF2B5EF4-FFF2-40B4-BE49-F238E27FC236}">
                <a16:creationId xmlns:a16="http://schemas.microsoft.com/office/drawing/2014/main" id="{FE8B7ACC-A61B-43ED-A33D-BF098FA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99238-3A93-4451-89D0-152646FC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관리 대상 선택</a:t>
            </a:r>
          </a:p>
        </p:txBody>
      </p:sp>
      <p:sp>
        <p:nvSpPr>
          <p:cNvPr id="18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64DD752-D918-453B-9736-0D781960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상단의 모든 유저·그룹·조직도 탭으로 관리 대상을 전환합니다. 개별 구성원과 조직 구성을 구분해 탐색할 수 있습니다.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A354AF62-7092-453F-AC2A-DB508AC0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74509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Callout 2">
            <a:extLst xmlns:a="http://schemas.openxmlformats.org/drawingml/2006/main">
              <a:ext uri="{FF2B5EF4-FFF2-40B4-BE49-F238E27FC236}">
                <a16:creationId xmlns:a16="http://schemas.microsoft.com/office/drawing/2014/main" id="{647AFA25-DE05-44E1-A451-C694724B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19A53-281F-4DFA-BB58-8157B4BB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팀원 등록 메뉴</a:t>
            </a:r>
          </a:p>
        </p:txBody>
      </p:sp>
      <p:sp>
        <p:nvSpPr>
          <p:cNvPr id="22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40F16DE5-D81B-4DE6-AA1D-D7415947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파일에서 사용자 업로드, 팀원 생성·초대 메뉴가 있습니다. 실습 사본에서는 실제 계정 등록이나 초대 전송을 실행하지 않습니다.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7D52BF99-3EBA-4D64-9BAC-10BA280D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314074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Callout 3">
            <a:extLst xmlns:a="http://schemas.openxmlformats.org/drawingml/2006/main">
              <a:ext uri="{FF2B5EF4-FFF2-40B4-BE49-F238E27FC236}">
                <a16:creationId xmlns:a16="http://schemas.microsoft.com/office/drawing/2014/main" id="{6E3FD277-6A2F-4DFE-9D63-DC05FE83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B04CC-08DE-45C6-84CF-9CD2D223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구성원 상태 확인</a:t>
            </a:r>
          </a:p>
        </p:txBody>
      </p:sp>
      <p:sp>
        <p:nvSpPr>
          <p:cNvPr id="26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16A2E34E-A5AB-4EB3-A044-AC5962B2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이름·이메일, 사용 용량, 역할, 활성 상태, 최근 로그인과 세부권한을 목록에서 확인합니다. 이름과 이메일은 실습용 예시입니다.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DD5828-63D6-474C-8988-139A2EDD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324F78-9F1E-476D-93A6-FA7D5C93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4720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A75C2-36DD-4F17-8FF0-5CFFD7C1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6C22A-6DB0-4012-89D8-1CBA0C63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기업 정보와 계정 보안 항목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33ECFD-2C43-468A-8AB2-A6C01230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기업설정 화면에서 일반 정보와 로그인 관련 설정을 구분합니다.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F04C26-D79C-4B9B-B1B3-960C1BD14E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12430e2044aeb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EB87F5-611F-4EC1-9C15-25998CE9DF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bcf38e6974e31"/>
          <a:stretch xmlns:a="http://schemas.openxmlformats.org/drawingml/2006/main"/>
        </p:blipFill>
        <p:spPr>
          <a:xfrm xmlns:a="http://schemas.openxmlformats.org/drawingml/2006/main">
            <a:off x="704850" y="2239122"/>
            <a:ext cx="10287000" cy="5094381"/>
          </a:xfrm>
          <a:prstGeom xmlns:a="http://schemas.openxmlformats.org/drawingml/2006/main" prst="rect">
            <a:avLst/>
          </a:prstGeom>
        </p:spPr>
      </p:pic>
      <p:sp>
        <p:nvSpPr>
          <p:cNvPr id="20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62B4D1A-C88B-419B-BDC5-688013A7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0AEF3417-37EE-4098-AEEA-74449ED9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529909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Callout 1">
            <a:extLst xmlns:a="http://schemas.openxmlformats.org/drawingml/2006/main">
              <a:ext uri="{FF2B5EF4-FFF2-40B4-BE49-F238E27FC236}">
                <a16:creationId xmlns:a16="http://schemas.microsoft.com/office/drawing/2014/main" id="{D4BCA69E-0CFD-4C69-B34C-08E79F5D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FDF03-5707-4C87-8783-82743C58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일반 설정</a:t>
            </a:r>
          </a:p>
        </p:txBody>
      </p:sp>
      <p:sp>
        <p:nvSpPr>
          <p:cNvPr id="24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11A19CF7-EEC9-4CC5-AC20-8A805A02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영역은 기업명·도메인·로고와 공지·서비스 이용 동의, 트래픽 알림 등의 항목입니다. 조직 정보를 관리하는 위치를 확인할 수 있으며, 화면 아래로 추가 설정이 이어집니다.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0CA8A45A-2047-48D5-8D28-EECE154A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15" y="2529909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Callout 2">
            <a:extLst xmlns:a="http://schemas.openxmlformats.org/drawingml/2006/main">
              <a:ext uri="{FF2B5EF4-FFF2-40B4-BE49-F238E27FC236}">
                <a16:creationId xmlns:a16="http://schemas.microsoft.com/office/drawing/2014/main" id="{D850A6C1-A9BB-455C-BCEA-ECC96FD9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933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9071F8-A459-444C-9A02-C2B20622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339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계정 보안 설정</a:t>
            </a:r>
          </a:p>
        </p:txBody>
      </p:sp>
      <p:sp>
        <p:nvSpPr>
          <p:cNvPr id="28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133325AF-1907-47EA-AAD5-C23192CC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391150"/>
            <a:ext cx="2857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오른쪽 영역에서 Email·LDAP 로그인 방식, 자동 로그아웃, 비밀번호 유효기간·재사용 허용과 신규 사용자 기본 저장 용량을 확인합니다. 실습 사본에서는 변경 사항을 실제 계정에 저장하지 않습니다.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2B12BC-42A3-475B-AEA6-A2C57E6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F9108C-D64C-4D66-9310-F7D6A1B0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835507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DE3AB-0A03-4AF0-ACA9-3672B69B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682B2-1345-435A-8812-45DB079C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활동로그에서 문서 작업 이력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A007D-74F2-4E59-AF66-D50FC095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조회 조건과 로그 열을 함께 보며 어떤 활동이 있었는지 살펴봅니다.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9109-2AF7-4105-ACEA-EE157CAB7A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03c6764934e82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39B3C-BEAD-432E-B477-95B88D63BB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677c81b7e442f"/>
          <a:stretch xmlns:a="http://schemas.openxmlformats.org/drawingml/2006/main"/>
        </p:blipFill>
        <p:spPr>
          <a:xfrm xmlns:a="http://schemas.openxmlformats.org/drawingml/2006/main">
            <a:off x="704850" y="2239122"/>
            <a:ext cx="10287000" cy="5094381"/>
          </a:xfrm>
          <a:prstGeom xmlns:a="http://schemas.openxmlformats.org/drawingml/2006/main" prst="rect">
            <a:avLst/>
          </a:prstGeom>
        </p:spPr>
      </p:pic>
      <p:sp>
        <p:nvSpPr>
          <p:cNvPr id="14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E2C25AB8-118E-4AFD-9269-975CFA40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16DACDFD-7073-4805-8B68-126A2446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Callout 1">
            <a:extLst xmlns:a="http://schemas.openxmlformats.org/drawingml/2006/main">
              <a:ext uri="{FF2B5EF4-FFF2-40B4-BE49-F238E27FC236}">
                <a16:creationId xmlns:a16="http://schemas.microsoft.com/office/drawing/2014/main" id="{AC55C8EC-077F-4440-81ED-BACFB1F1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04860-4C54-4FD7-BBA8-4486491C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기간·유형 조건</a:t>
            </a:r>
          </a:p>
        </p:txBody>
      </p:sp>
      <p:sp>
        <p:nvSpPr>
          <p:cNvPr id="18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7F3BBFA-0074-4415-9A53-411B63F8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 유형 선택과 시작일·종료일에서 조회 조건을 확인합니다. 원하는 기간과 활동 종류를 기준으로 이력을 살펴보는 화면입니다.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540FF0C6-8A15-458F-9C1B-BB400376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54" y="289085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Callout 2">
            <a:extLst xmlns:a="http://schemas.openxmlformats.org/drawingml/2006/main">
              <a:ext uri="{FF2B5EF4-FFF2-40B4-BE49-F238E27FC236}">
                <a16:creationId xmlns:a16="http://schemas.microsoft.com/office/drawing/2014/main" id="{50E7BB61-D30A-40B2-852C-4F9DDEB2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9783B-775A-4AD5-82C3-8DC7A385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활동 상세 목록</a:t>
            </a:r>
          </a:p>
        </p:txBody>
      </p:sp>
      <p:sp>
        <p:nvSpPr>
          <p:cNvPr id="22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597E3C8A-AB63-4E90-8CB8-EBE66FE8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날짜·활동 로그·경로·크기·IP 열로 로그인과 파일 추가·조회 이력을 비교합니다. 표시된 문서명과 IP 주소는 예시 데이터입니다.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D1206246-FB48-4932-BF96-8834E996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3757" y="2363318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Callout 3">
            <a:extLst xmlns:a="http://schemas.openxmlformats.org/drawingml/2006/main">
              <a:ext uri="{FF2B5EF4-FFF2-40B4-BE49-F238E27FC236}">
                <a16:creationId xmlns:a16="http://schemas.microsoft.com/office/drawing/2014/main" id="{13F1D4C6-5A9D-4664-BD5F-AFBF0629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8CDDE1-2C92-4BBC-8C16-9A0637F1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 내려받기</a:t>
            </a:r>
          </a:p>
        </p:txBody>
      </p:sp>
      <p:sp>
        <p:nvSpPr>
          <p:cNvPr id="26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53EF0EF0-E40C-4DD7-AA18-40EFDA6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상단 다운로드 메뉴는 활동 이력을 내려받는 위치입니다. 실습 사본에서는 실제 운영 로그를 추출하거나 외부로 전송하지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4642D4-BC0D-4187-9EF7-A72FA642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C7DDF4-1290-4EB2-B72B-F6DE08D4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131276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8428D-49D7-4C4A-A2C7-DAE445A7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F2031-CA35-40F9-9EB1-9ADFA730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백업과 아카이브의 상태를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64380-4B8A-48D2-9842-D8316F63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 용량, 서비스 탭과 작업 목록을 한 화면에서 살펴봅니다.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E6139-7540-426A-B002-54B01EB268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e3774c68d4f35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C71A1-17BB-4C08-A5D6-5367E11009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974171603446c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3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41536B71-9F4B-4B98-B5DD-EA603CB9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14" name="Callout 1">
            <a:extLst xmlns:a="http://schemas.openxmlformats.org/drawingml/2006/main">
              <a:ext uri="{FF2B5EF4-FFF2-40B4-BE49-F238E27FC236}">
                <a16:creationId xmlns:a16="http://schemas.microsoft.com/office/drawing/2014/main" id="{408B6AE4-0A0C-4630-BF56-C2845AF0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411907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Callout 1">
            <a:extLst xmlns:a="http://schemas.openxmlformats.org/drawingml/2006/main">
              <a:ext uri="{FF2B5EF4-FFF2-40B4-BE49-F238E27FC236}">
                <a16:creationId xmlns:a16="http://schemas.microsoft.com/office/drawing/2014/main" id="{A729875B-39CC-475D-A8C6-1BA6C4E9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F37F3-2BB8-470F-8013-F5FC888A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용량 현황</a:t>
            </a:r>
          </a:p>
        </p:txBody>
      </p:sp>
      <p:sp>
        <p:nvSpPr>
          <p:cNvPr id="17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05D994E1-FB00-462B-99C5-006765F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사용 중인 용량, 백업·아카이브 사용량과 사용 가능한 용량을 비교합니다. 별도 가격의 부가 서비스로 안내되므로 실제 이용 조건을 확인해야 합니다.</a:t>
            </a:r>
          </a:p>
        </p:txBody>
      </p:sp>
      <p:sp>
        <p:nvSpPr>
          <p:cNvPr id="18" name="Callout 2">
            <a:extLst xmlns:a="http://schemas.openxmlformats.org/drawingml/2006/main">
              <a:ext uri="{FF2B5EF4-FFF2-40B4-BE49-F238E27FC236}">
                <a16:creationId xmlns:a16="http://schemas.microsoft.com/office/drawing/2014/main" id="{5B60D956-30F1-4B38-85C2-1E6020CF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6176" y="341839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Callout 2">
            <a:extLst xmlns:a="http://schemas.openxmlformats.org/drawingml/2006/main">
              <a:ext uri="{FF2B5EF4-FFF2-40B4-BE49-F238E27FC236}">
                <a16:creationId xmlns:a16="http://schemas.microsoft.com/office/drawing/2014/main" id="{EF675C97-9F20-4988-ABFB-604FEA68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4FB2D-B7CE-4CA4-983A-88F3784B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백업·아카이브 선택</a:t>
            </a:r>
          </a:p>
        </p:txBody>
      </p:sp>
      <p:sp>
        <p:nvSpPr>
          <p:cNvPr id="21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ABAB34B7-792E-44E1-A716-F308D51E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백업·아카이브 탭으로 목록을 전환합니다. 신규 백업 메뉴에서 작업을 시작하는 구조이며, 실습 사본에서는 실제 백업을 생성하지 않습니다.</a:t>
            </a:r>
          </a:p>
        </p:txBody>
      </p:sp>
      <p:sp>
        <p:nvSpPr>
          <p:cNvPr id="22" name="Callout 3">
            <a:extLst xmlns:a="http://schemas.openxmlformats.org/drawingml/2006/main">
              <a:ext uri="{FF2B5EF4-FFF2-40B4-BE49-F238E27FC236}">
                <a16:creationId xmlns:a16="http://schemas.microsoft.com/office/drawing/2014/main" id="{3EA07BAA-9C51-4E2D-84CA-E3A2A119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4424883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Callout 3">
            <a:extLst xmlns:a="http://schemas.openxmlformats.org/drawingml/2006/main">
              <a:ext uri="{FF2B5EF4-FFF2-40B4-BE49-F238E27FC236}">
                <a16:creationId xmlns:a16="http://schemas.microsoft.com/office/drawing/2014/main" id="{0CC6C6D8-8C67-484E-BB9B-38072323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01544A-CEC3-44B1-8E75-01F45227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작업 목록 확인</a:t>
            </a:r>
          </a:p>
        </p:txBody>
      </p:sp>
      <p:sp>
        <p:nvSpPr>
          <p:cNvPr id="25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B3589633-D0A2-4C40-A661-BAD2EC3A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날짜·경로·소유자·크기·백업 주기를 확인하는 목록입니다. 현재는 진행 중인 백업이 없다는 상태가 표시됩니다. 화면의 용량은 실제 계약 조건과 구분합니다.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946EA-C538-426E-B272-1F3CE16D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6AF97A-6724-48F2-8CB8-E24F0670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635468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CDF9E-8A9B-4E1A-86D8-B8566091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393FF-8760-4C6B-A386-F41B8AEA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개인설정에서 계정과 연동 앱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AD6D3-CB95-4017-9931-22894C91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정보, 로그인 설정과 PC·브라우저 연동 안내를 제공합니다.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2774E2-F0E3-43B8-A53C-C685D5A6C8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38daf9f664c53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DD4004-6DCD-4363-8181-153651048A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5cf57dfad461e"/>
          <a:stretch xmlns:a="http://schemas.openxmlformats.org/drawingml/2006/main"/>
        </p:blipFill>
        <p:spPr>
          <a:xfrm xmlns:a="http://schemas.openxmlformats.org/drawingml/2006/main">
            <a:off x="704850" y="2238857"/>
            <a:ext cx="10287000" cy="5094911"/>
          </a:xfrm>
          <a:prstGeom xmlns:a="http://schemas.openxmlformats.org/drawingml/2006/main" prst="rect">
            <a:avLst/>
          </a:prstGeom>
        </p:spPr>
      </p:pic>
      <p:sp>
        <p:nvSpPr>
          <p:cNvPr id="19" name="Explanation panel">
            <a:extLst xmlns:a="http://schemas.openxmlformats.org/drawingml/2006/main">
              <a:ext uri="{FF2B5EF4-FFF2-40B4-BE49-F238E27FC236}">
                <a16:creationId xmlns:a16="http://schemas.microsoft.com/office/drawing/2014/main" id="{9D39D07E-7156-4B41-ACF8-6D6B1A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114550"/>
            <a:ext cx="3476625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ED8EC"/>
            </a:solidFill>
          </a:ln>
        </p:spPr>
      </p:sp>
      <p:sp>
        <p:nvSpPr>
          <p:cNvPr id="20" name="Callout 1">
            <a:extLst xmlns:a="http://schemas.openxmlformats.org/drawingml/2006/main">
              <a:ext uri="{FF2B5EF4-FFF2-40B4-BE49-F238E27FC236}">
                <a16:creationId xmlns:a16="http://schemas.microsoft.com/office/drawing/2014/main" id="{EF92BDF5-797B-4FC1-9BF2-7D5F8748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61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Callout 1">
            <a:extLst xmlns:a="http://schemas.openxmlformats.org/drawingml/2006/main">
              <a:ext uri="{FF2B5EF4-FFF2-40B4-BE49-F238E27FC236}">
                <a16:creationId xmlns:a16="http://schemas.microsoft.com/office/drawing/2014/main" id="{AD567745-18A4-4B4F-9463-8BE4E7A4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2305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5977C-CAC5-484C-A269-7587409E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23050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사용자 정보</a:t>
            </a:r>
          </a:p>
        </p:txBody>
      </p:sp>
      <p:sp>
        <p:nvSpPr>
          <p:cNvPr id="23" name="Explanation body 14pt 1">
            <a:extLst xmlns:a="http://schemas.openxmlformats.org/drawingml/2006/main">
              <a:ext uri="{FF2B5EF4-FFF2-40B4-BE49-F238E27FC236}">
                <a16:creationId xmlns:a16="http://schemas.microsoft.com/office/drawing/2014/main" id="{43F4B362-B822-4595-839A-972FD678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7622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왼쪽 일반 설정에서 이름·이메일·알림·사용 언어와 추천인 링크를 확인합니다. 실습 화면의 계정 정보는 예시이며 실제 개인정보를 포함하지 않습니다.</a:t>
            </a:r>
          </a:p>
        </p:txBody>
      </p:sp>
      <p:sp>
        <p:nvSpPr>
          <p:cNvPr id="24" name="Callout 2">
            <a:extLst xmlns:a="http://schemas.openxmlformats.org/drawingml/2006/main">
              <a:ext uri="{FF2B5EF4-FFF2-40B4-BE49-F238E27FC236}">
                <a16:creationId xmlns:a16="http://schemas.microsoft.com/office/drawing/2014/main" id="{0CF0FFE2-B5F6-452E-B6E4-880C88C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115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5" name="Callout 2">
            <a:extLst xmlns:a="http://schemas.openxmlformats.org/drawingml/2006/main">
              <a:ext uri="{FF2B5EF4-FFF2-40B4-BE49-F238E27FC236}">
                <a16:creationId xmlns:a16="http://schemas.microsoft.com/office/drawing/2014/main" id="{70BAB7AB-EE2D-48AA-B36F-2FE1DCED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57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78356-E0B4-4D10-8A36-3CF67DDA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0576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로그인 및 기기설정</a:t>
            </a:r>
          </a:p>
        </p:txBody>
      </p:sp>
      <p:sp>
        <p:nvSpPr>
          <p:cNvPr id="27" name="Explanation body 14pt 2">
            <a:extLst xmlns:a="http://schemas.openxmlformats.org/drawingml/2006/main">
              <a:ext uri="{FF2B5EF4-FFF2-40B4-BE49-F238E27FC236}">
                <a16:creationId xmlns:a16="http://schemas.microsoft.com/office/drawing/2014/main" id="{6F591580-C9E3-47E3-BA63-1C7566B7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5148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가운데 계정 보안 영역에서 로그인 허용 이메일 추가 항목을 살펴봅니다. 실제 로그인 설정 변경은 실습 사본에 반영되지 않습니다.</a:t>
            </a:r>
          </a:p>
        </p:txBody>
      </p:sp>
      <p:sp>
        <p:nvSpPr>
          <p:cNvPr id="28" name="Callout 3">
            <a:extLst xmlns:a="http://schemas.openxmlformats.org/drawingml/2006/main">
              <a:ext uri="{FF2B5EF4-FFF2-40B4-BE49-F238E27FC236}">
                <a16:creationId xmlns:a16="http://schemas.microsoft.com/office/drawing/2014/main" id="{87C439A6-E2A8-4811-AA23-726462A1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2633" y="2432731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" name="Callout 3">
            <a:extLst xmlns:a="http://schemas.openxmlformats.org/drawingml/2006/main">
              <a:ext uri="{FF2B5EF4-FFF2-40B4-BE49-F238E27FC236}">
                <a16:creationId xmlns:a16="http://schemas.microsoft.com/office/drawing/2014/main" id="{BD3B3DBD-3D20-48E6-BB4C-C726C96F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10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4288">
            <a:solidFill>
              <a:srgbClr val="000000"/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B22BB4-7B74-4C9C-BEF3-65501E6E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810250"/>
            <a:ext cx="2714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PC 앱과 클립북</a:t>
            </a:r>
          </a:p>
        </p:txBody>
      </p:sp>
      <p:sp>
        <p:nvSpPr>
          <p:cNvPr id="31" name="Explanation body 14pt 3">
            <a:extLst xmlns:a="http://schemas.openxmlformats.org/drawingml/2006/main">
              <a:ext uri="{FF2B5EF4-FFF2-40B4-BE49-F238E27FC236}">
                <a16:creationId xmlns:a16="http://schemas.microsoft.com/office/drawing/2014/main" id="{A7776594-8D73-4D5E-A4AD-A66C74DE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267450"/>
            <a:ext cx="285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PC클라이언트·클다스트림과 Windows·Mac 다운로드, 클립북 안내를 확인합니다. 두 PC 앱의 동시 사용에 대한 주의 문구도 함께 살펴봅니다.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D70DD6-4515-4EA7-A1E0-E852BC6B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81950"/>
            <a:ext cx="1285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실습용 정적 화면 · 계정·문서·IP는 예시이며 업로드·삭제·설정 저장은 실행되지 않습니다.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936FED-4254-4E50-BEAF-EFF246FC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901087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FAB45-7082-407F-BDDB-E85F8B5D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1BB8A-858E-49D0-97E9-28805DAD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실습 앱에서 주요 메뉴를 둘러보세요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930A5-1171-4D4A-9D4C-939F05DD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화면 번호와 설명을 함께 보며 문서 관리에서 운영 메뉴까지 확인합니다.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6F5AF-BF86-451A-9D31-AE4F76EC66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f2fbd23434019"/>
          <a:stretch xmlns:a="http://schemas.openxmlformats.org/drawingml/2006/main"/>
        </p:blipFill>
        <p:spPr>
          <a:xfrm xmlns:a="http://schemas.openxmlformats.org/drawingml/2006/main">
            <a:off x="12954000" y="527426"/>
            <a:ext cx="1809750" cy="345323"/>
          </a:xfrm>
          <a:prstGeom xmlns:a="http://schemas.openxmlformats.org/drawingml/2006/main" prst="rect">
            <a:avLst/>
          </a:prstGeom>
        </p:spPr>
      </p:pic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46F8FE-9F8B-4F6F-96E8-EC58020F16F5}"/>
              </a:ext>
            </a:extLst>
          </p:cNvPr>
          <p:cNvGraphicFramePr/>
          <p:nvPr/>
        </p:nvGraphicFramePr>
        <p:xfrm>
          <a:off xmlns:a="http://schemas.openxmlformats.org/drawingml/2006/main" x="762000" y="2238375"/>
          <a:ext xmlns:a="http://schemas.openxmlformats.org/drawingml/2006/main" cx="137160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10858500"/>
              </a:tblGrid>
              <a:tr h="6572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영역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살펴볼 메뉴와 확인 사항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관리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문서함 · 공유 문서함 · 기업 문서함 · 클립북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운영 관리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팀원·그룹·조직도 · 기업설정 · 활동로그 · 개인설정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백업과 보관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백업 · 아카이브 · 즐겨찾기 · 휴지통 메뉴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실습 사본 범위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메뉴 탐색과 예시 화면 제공. 업로드·삭제·설정 저장·결제는 실행되지 않음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67DC06-7493-4C6B-8543-CB19E26A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실습 앱  acmexii.github.io/cloudikehome/app/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FA5E0-41D6-437C-94DF-7941E6A3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13620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전자결재는 화면에 PROFESSIONAL 요금제부터 사용 가능으로 안내됩니다.</a:t>
            </a:r>
          </a:p>
          <a:p xmlns:a="http://schemas.openxmlformats.org/drawingml/2006/main">
            <a:pPr>
              <a:def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실제 요금·권한·부가 서비스 조건은 공식 안내와 계약 내용을 확인해 주세요.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00F424-BABB-4945-9F99-4CD9DB62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991475"/>
            <a:ext cx="1285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앱 기능소개 · 2026.10 개정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2E6935-B351-459A-A85F-D91C629A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18760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2026-10-25T06:46:55.3200000Z</dcterms:created>
  <dcterms:modified xsi:type="dcterms:W3CDTF">2026-10-25T06:46:55.3200000Z</dcterms:modified>
</coreProperties>
</file>