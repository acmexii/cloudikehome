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ad6da6e8b4546b3" /><Relationship Type="http://schemas.openxmlformats.org/officeDocument/2006/relationships/extended-properties" Target="/docProps/app.xml" Id="Rd87c51421bac4747" /><Relationship Type="http://schemas.openxmlformats.org/officeDocument/2006/relationships/officeDocument" Target="/ppt/presentation.xml" Id="Rd80e01ee80db485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21df26c925144fa"/>
  </p:sldMasterIdLst>
  <p:notesMasterIdLst>
    <p:notesMasterId xmlns:r="http://schemas.openxmlformats.org/officeDocument/2006/relationships" r:id="R973c94625eae4735"/>
  </p:notesMasterIdLst>
  <p:sldIdLst>
    <p:sldId xmlns:r="http://schemas.openxmlformats.org/officeDocument/2006/relationships" id="256" r:id="Rfbc5311fe9b6489d"/>
    <p:sldId xmlns:r="http://schemas.openxmlformats.org/officeDocument/2006/relationships" id="257" r:id="R0418143e2caa4d17"/>
    <p:sldId xmlns:r="http://schemas.openxmlformats.org/officeDocument/2006/relationships" id="258" r:id="R61176f3c098f4287"/>
    <p:sldId xmlns:r="http://schemas.openxmlformats.org/officeDocument/2006/relationships" id="259" r:id="R654867d7436e46e1"/>
    <p:sldId xmlns:r="http://schemas.openxmlformats.org/officeDocument/2006/relationships" id="260" r:id="R0bc27ef0181c4370"/>
    <p:sldId xmlns:r="http://schemas.openxmlformats.org/officeDocument/2006/relationships" id="261" r:id="R9e21a3ceb0834533"/>
    <p:sldId xmlns:r="http://schemas.openxmlformats.org/officeDocument/2006/relationships" id="262" r:id="Rf4718067b9674b1c"/>
    <p:sldId xmlns:r="http://schemas.openxmlformats.org/officeDocument/2006/relationships" id="263" r:id="R15998f6fed5e49f3"/>
    <p:sldId xmlns:r="http://schemas.openxmlformats.org/officeDocument/2006/relationships" id="264" r:id="R528616110af34acc"/>
    <p:sldId xmlns:r="http://schemas.openxmlformats.org/officeDocument/2006/relationships" id="265" r:id="R3c5b0c3cf2664192"/>
    <p:sldId xmlns:r="http://schemas.openxmlformats.org/officeDocument/2006/relationships" id="266" r:id="Re05dc1cdaeb041c8"/>
    <p:sldId xmlns:r="http://schemas.openxmlformats.org/officeDocument/2006/relationships" id="267" r:id="R34bf46341a5c4a30"/>
    <p:sldId xmlns:r="http://schemas.openxmlformats.org/officeDocument/2006/relationships" id="268" r:id="Ra5578763191041de"/>
    <p:sldId xmlns:r="http://schemas.openxmlformats.org/officeDocument/2006/relationships" id="269" r:id="R2afa73fa412b4948"/>
    <p:sldId xmlns:r="http://schemas.openxmlformats.org/officeDocument/2006/relationships" id="270" r:id="R754add2346204e87"/>
    <p:sldId xmlns:r="http://schemas.openxmlformats.org/officeDocument/2006/relationships" id="271" r:id="Rf0370f13be514d92"/>
    <p:sldId xmlns:r="http://schemas.openxmlformats.org/officeDocument/2006/relationships" id="272" r:id="R6591ad8df7724522"/>
    <p:sldId xmlns:r="http://schemas.openxmlformats.org/officeDocument/2006/relationships" id="273" r:id="R8865797684dc4b54"/>
    <p:sldId xmlns:r="http://schemas.openxmlformats.org/officeDocument/2006/relationships" id="274" r:id="Re96eedcc9fb8451d"/>
    <p:sldId xmlns:r="http://schemas.openxmlformats.org/officeDocument/2006/relationships" id="275" r:id="R2dd95c68ca1b42f8"/>
    <p:sldId xmlns:r="http://schemas.openxmlformats.org/officeDocument/2006/relationships" id="276" r:id="Rf77c1c5597b843c4"/>
    <p:sldId xmlns:r="http://schemas.openxmlformats.org/officeDocument/2006/relationships" id="277" r:id="R45938c1b58a7435a"/>
    <p:sldId xmlns:r="http://schemas.openxmlformats.org/officeDocument/2006/relationships" id="278" r:id="R1a1dc5bf28c34a22"/>
    <p:sldId xmlns:r="http://schemas.openxmlformats.org/officeDocument/2006/relationships" id="279" r:id="R566bca2ebe5746e1"/>
    <p:sldId xmlns:r="http://schemas.openxmlformats.org/officeDocument/2006/relationships" id="280" r:id="R5eb5ec6463e447ec"/>
    <p:sldId xmlns:r="http://schemas.openxmlformats.org/officeDocument/2006/relationships" id="281" r:id="Rbc4e182dbc59491a"/>
    <p:sldId xmlns:r="http://schemas.openxmlformats.org/officeDocument/2006/relationships" id="282" r:id="R0d4edafef6154188"/>
    <p:sldId xmlns:r="http://schemas.openxmlformats.org/officeDocument/2006/relationships" id="283" r:id="R31dfb544c2c94d87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0f97063b1774b03" /><Relationship Type="http://schemas.openxmlformats.org/officeDocument/2006/relationships/slideMaster" Target="/ppt/slideMasters/slideMaster1.xml" Id="Ra21df26c925144fa" /><Relationship Type="http://schemas.openxmlformats.org/officeDocument/2006/relationships/notesMaster" Target="/ppt/notesMasters/notesMaster1.xml" Id="R973c94625eae4735" /><Relationship Type="http://schemas.openxmlformats.org/officeDocument/2006/relationships/presProps" Target="/ppt/presProps.xml" Id="Rf7bcd6c883ea424a" /><Relationship Type="http://schemas.openxmlformats.org/officeDocument/2006/relationships/tableStyles" Target="/ppt/tableStyles.xml" Id="R4a07c5895e914a31" /><Relationship Type="http://schemas.openxmlformats.org/officeDocument/2006/relationships/slide" Target="/ppt/slides/slide1.xml" Id="Rfbc5311fe9b6489d" /><Relationship Type="http://schemas.openxmlformats.org/officeDocument/2006/relationships/slide" Target="/ppt/slides/slide2.xml" Id="R0418143e2caa4d17" /><Relationship Type="http://schemas.openxmlformats.org/officeDocument/2006/relationships/slide" Target="/ppt/slides/slide3.xml" Id="R61176f3c098f4287" /><Relationship Type="http://schemas.openxmlformats.org/officeDocument/2006/relationships/slide" Target="/ppt/slides/slide4.xml" Id="R654867d7436e46e1" /><Relationship Type="http://schemas.openxmlformats.org/officeDocument/2006/relationships/slide" Target="/ppt/slides/slide5.xml" Id="R0bc27ef0181c4370" /><Relationship Type="http://schemas.openxmlformats.org/officeDocument/2006/relationships/slide" Target="/ppt/slides/slide6.xml" Id="R9e21a3ceb0834533" /><Relationship Type="http://schemas.openxmlformats.org/officeDocument/2006/relationships/slide" Target="/ppt/slides/slide7.xml" Id="Rf4718067b9674b1c" /><Relationship Type="http://schemas.openxmlformats.org/officeDocument/2006/relationships/slide" Target="/ppt/slides/slide8.xml" Id="R15998f6fed5e49f3" /><Relationship Type="http://schemas.openxmlformats.org/officeDocument/2006/relationships/slide" Target="/ppt/slides/slide9.xml" Id="R528616110af34acc" /><Relationship Type="http://schemas.openxmlformats.org/officeDocument/2006/relationships/slide" Target="/ppt/slides/slide10.xml" Id="R3c5b0c3cf2664192" /><Relationship Type="http://schemas.openxmlformats.org/officeDocument/2006/relationships/slide" Target="/ppt/slides/slide11.xml" Id="Re05dc1cdaeb041c8" /><Relationship Type="http://schemas.openxmlformats.org/officeDocument/2006/relationships/slide" Target="/ppt/slides/slide12.xml" Id="R34bf46341a5c4a30" /><Relationship Type="http://schemas.openxmlformats.org/officeDocument/2006/relationships/slide" Target="/ppt/slides/slide13.xml" Id="Ra5578763191041de" /><Relationship Type="http://schemas.openxmlformats.org/officeDocument/2006/relationships/slide" Target="/ppt/slides/slide14.xml" Id="R2afa73fa412b4948" /><Relationship Type="http://schemas.openxmlformats.org/officeDocument/2006/relationships/slide" Target="/ppt/slides/slide15.xml" Id="R754add2346204e87" /><Relationship Type="http://schemas.openxmlformats.org/officeDocument/2006/relationships/slide" Target="/ppt/slides/slide16.xml" Id="Rf0370f13be514d92" /><Relationship Type="http://schemas.openxmlformats.org/officeDocument/2006/relationships/slide" Target="/ppt/slides/slide17.xml" Id="R6591ad8df7724522" /><Relationship Type="http://schemas.openxmlformats.org/officeDocument/2006/relationships/slide" Target="/ppt/slides/slide18.xml" Id="R8865797684dc4b54" /><Relationship Type="http://schemas.openxmlformats.org/officeDocument/2006/relationships/slide" Target="/ppt/slides/slide19.xml" Id="Re96eedcc9fb8451d" /><Relationship Type="http://schemas.openxmlformats.org/officeDocument/2006/relationships/slide" Target="/ppt/slides/slide20.xml" Id="R2dd95c68ca1b42f8" /><Relationship Type="http://schemas.openxmlformats.org/officeDocument/2006/relationships/slide" Target="/ppt/slides/slide21.xml" Id="Rf77c1c5597b843c4" /><Relationship Type="http://schemas.openxmlformats.org/officeDocument/2006/relationships/slide" Target="/ppt/slides/slide22.xml" Id="R45938c1b58a7435a" /><Relationship Type="http://schemas.openxmlformats.org/officeDocument/2006/relationships/slide" Target="/ppt/slides/slide23.xml" Id="R1a1dc5bf28c34a22" /><Relationship Type="http://schemas.openxmlformats.org/officeDocument/2006/relationships/slide" Target="/ppt/slides/slide24.xml" Id="R566bca2ebe5746e1" /><Relationship Type="http://schemas.openxmlformats.org/officeDocument/2006/relationships/slide" Target="/ppt/slides/slide25.xml" Id="R5eb5ec6463e447ec" /><Relationship Type="http://schemas.openxmlformats.org/officeDocument/2006/relationships/slide" Target="/ppt/slides/slide26.xml" Id="Rbc4e182dbc59491a" /><Relationship Type="http://schemas.openxmlformats.org/officeDocument/2006/relationships/slide" Target="/ppt/slides/slide27.xml" Id="R0d4edafef6154188" /><Relationship Type="http://schemas.openxmlformats.org/officeDocument/2006/relationships/slide" Target="/ppt/slides/slide28.xml" Id="R31dfb544c2c94d8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3c123be33364d9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c12365a20c5425f" /><Relationship Type="http://schemas.openxmlformats.org/officeDocument/2006/relationships/notesMaster" Target="/ppt/notesMasters/notesMaster1.xml" Id="Rca403ff00bb6434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a148cf1a3c64387" /><Relationship Type="http://schemas.openxmlformats.org/officeDocument/2006/relationships/notesMaster" Target="/ppt/notesMasters/notesMaster1.xml" Id="Ra3dcc3121811431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c2fb67a658f4c70" /><Relationship Type="http://schemas.openxmlformats.org/officeDocument/2006/relationships/notesMaster" Target="/ppt/notesMasters/notesMaster1.xml" Id="Rdfb2bb5afcc1400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ab1de75345a4ca6" /><Relationship Type="http://schemas.openxmlformats.org/officeDocument/2006/relationships/notesMaster" Target="/ppt/notesMasters/notesMaster1.xml" Id="Ra83c17fc8560486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611643284094411" /><Relationship Type="http://schemas.openxmlformats.org/officeDocument/2006/relationships/notesMaster" Target="/ppt/notesMasters/notesMaster1.xml" Id="R45ba8e6bc5534a0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5a02a6386564c5c" /><Relationship Type="http://schemas.openxmlformats.org/officeDocument/2006/relationships/notesMaster" Target="/ppt/notesMasters/notesMaster1.xml" Id="R51477c1bc9a840a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8e7b9bbbdd84147" /><Relationship Type="http://schemas.openxmlformats.org/officeDocument/2006/relationships/notesMaster" Target="/ppt/notesMasters/notesMaster1.xml" Id="R0edf83fbc5ca4f6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71be1d7e53d47b1" /><Relationship Type="http://schemas.openxmlformats.org/officeDocument/2006/relationships/notesMaster" Target="/ppt/notesMasters/notesMaster1.xml" Id="R17cc43d9f827496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a4827104d014605" /><Relationship Type="http://schemas.openxmlformats.org/officeDocument/2006/relationships/notesMaster" Target="/ppt/notesMasters/notesMaster1.xml" Id="Rd18237144deb476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28008035f6f4ed3" /><Relationship Type="http://schemas.openxmlformats.org/officeDocument/2006/relationships/notesMaster" Target="/ppt/notesMasters/notesMaster1.xml" Id="R9c6e0db930b644a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ffa9bd23059409c" /><Relationship Type="http://schemas.openxmlformats.org/officeDocument/2006/relationships/notesMaster" Target="/ppt/notesMasters/notesMaster1.xml" Id="R5aa7953960154b3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1d90e1132724da0" /><Relationship Type="http://schemas.openxmlformats.org/officeDocument/2006/relationships/notesMaster" Target="/ppt/notesMasters/notesMaster1.xml" Id="R11a6c6c3f4fb4db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e4535e77df04bb8" /><Relationship Type="http://schemas.openxmlformats.org/officeDocument/2006/relationships/notesMaster" Target="/ppt/notesMasters/notesMaster1.xml" Id="R93ac5134781c402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3cad66b9bab451b" /><Relationship Type="http://schemas.openxmlformats.org/officeDocument/2006/relationships/notesMaster" Target="/ppt/notesMasters/notesMaster1.xml" Id="R04d070256cf14c1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0449217cfe04bc5" /><Relationship Type="http://schemas.openxmlformats.org/officeDocument/2006/relationships/notesMaster" Target="/ppt/notesMasters/notesMaster1.xml" Id="Rf215530e3e00485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1bf3447057c472a" /><Relationship Type="http://schemas.openxmlformats.org/officeDocument/2006/relationships/notesMaster" Target="/ppt/notesMasters/notesMaster1.xml" Id="Rd1236b8f07cf403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115c3fdb52344ab" /><Relationship Type="http://schemas.openxmlformats.org/officeDocument/2006/relationships/notesMaster" Target="/ppt/notesMasters/notesMaster1.xml" Id="R72898205552d4d3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aebf42045304379" /><Relationship Type="http://schemas.openxmlformats.org/officeDocument/2006/relationships/notesMaster" Target="/ppt/notesMasters/notesMaster1.xml" Id="R83543abec2c44ec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0109b6c5f524e71" /><Relationship Type="http://schemas.openxmlformats.org/officeDocument/2006/relationships/notesMaster" Target="/ppt/notesMasters/notesMaster1.xml" Id="R4c3eba59ffbc482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61694de283949e0" /><Relationship Type="http://schemas.openxmlformats.org/officeDocument/2006/relationships/notesMaster" Target="/ppt/notesMasters/notesMaster1.xml" Id="Rb641c28c2c7e420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67a0f8eaeb449b0" /><Relationship Type="http://schemas.openxmlformats.org/officeDocument/2006/relationships/notesMaster" Target="/ppt/notesMasters/notesMaster1.xml" Id="Rf8735309f46242d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c3acde12f374b05" /><Relationship Type="http://schemas.openxmlformats.org/officeDocument/2006/relationships/notesMaster" Target="/ppt/notesMasters/notesMaster1.xml" Id="Rb003c1b67a44455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76347faf9114f63" /><Relationship Type="http://schemas.openxmlformats.org/officeDocument/2006/relationships/notesMaster" Target="/ppt/notesMasters/notesMaster1.xml" Id="R20279508cef24218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aba5cbc21af4584" /><Relationship Type="http://schemas.openxmlformats.org/officeDocument/2006/relationships/notesMaster" Target="/ppt/notesMasters/notesMaster1.xml" Id="R33bfb815db844ae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43776bc1d7645ae" /><Relationship Type="http://schemas.openxmlformats.org/officeDocument/2006/relationships/notesMaster" Target="/ppt/notesMasters/notesMaster1.xml" Id="R98f13992da3b4870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d41a4937349419d" /><Relationship Type="http://schemas.openxmlformats.org/officeDocument/2006/relationships/notesMaster" Target="/ppt/notesMasters/notesMaster1.xml" Id="R1de249e778054e7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410d8d834d76427c" /><Relationship Type="http://schemas.openxmlformats.org/officeDocument/2006/relationships/notesMaster" Target="/ppt/notesMasters/notesMaster1.xml" Id="R90bb78016605451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32047ecf4c9a42d2" /><Relationship Type="http://schemas.openxmlformats.org/officeDocument/2006/relationships/notesMaster" Target="/ppt/notesMasters/notesMaster1.xml" Id="R58602695274945a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https://acmexii.github.io/cloudikehome/ ; pricing PR #1, main e722aa6. MSASchool reference cover background reused; Cloudike branding. Malgun Gothic font fallback.</a:t>
            </a:r>
          </a:p>
          <a:p xmlns:a="http://schemas.openxmlformats.org/drawingml/2006/main">
            <a:r>
              <a:t>Updated per PR #2 / main a5523ad8ce77e77d1fcc7d0278a2d204693ec043; marketing approval received. Standard 300GB / backup 100GB.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https://acmexii.github.io/cloudikehome/app/dashboard/ ; checked 2026-10-25 KST. main 9cff56d24c0207a332a88d58e970119630ffb53c. App UI only; no marketing homepage content. Static demo; descriptions limited to displayed controls and information.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https://acmexii.github.io/cloudikehome/app/documents/ ; checked 2026-10-25 KST. main 9cff56d24c0207a332a88d58e970119630ffb53c. App UI only; no marketing homepage content. Static demo; descriptions limited to displayed controls and information.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https://acmexii.github.io/cloudikehome/app/shared-documents/by-me/ ; checked 2026-10-25 KST. main 9cff56d24c0207a332a88d58e970119630ffb53c. App UI only; no marketing homepage content. Static demo; descriptions limited to displayed controls and information.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https://acmexii.github.io/cloudikehome/app/shared-documents/to-me/ ; checked 2026-10-25 KST. main 9cff56d24c0207a332a88d58e970119630ffb53c. App UI only; no marketing homepage content. Static demo; descriptions limited to displayed controls and information.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https://acmexii.github.io/cloudikehome/app/shared-documents/links/ ; checked 2026-10-25 KST. main 9cff56d24c0207a332a88d58e970119630ffb53c. App UI only; no marketing homepage content. Static demo; descriptions limited to displayed controls and information.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https://acmexii.github.io/cloudikehome/app/file-requests/ ; checked 2026-10-25 KST. main 9cff56d24c0207a332a88d58e970119630ffb53c. App UI only; no marketing homepage content. PR #11 and #12; same-browser demo; file body is not uploaded.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https://acmexii.github.io/cloudikehome/app/file-requests/ ; checked 2026-10-25 KST. main 9cff56d24c0207a332a88d58e970119630ffb53c. App UI only; no marketing homepage content. PR #11 and #12; same-browser demo; file body is not uploaded.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https://acmexii.github.io/cloudikehome/app/file-requests/ ; checked 2026-10-25 KST. main 9cff56d24c0207a332a88d58e970119630ffb53c. App UI only; no marketing homepage content. PR #11 and #12; same-browser demo; file body is not uploaded.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https://acmexii.github.io/cloudikehome/app/company-folder/ ; checked 2026-10-25 KST. main 9cff56d24c0207a332a88d58e970119630ffb53c. App UI only; no marketing homepage content. Static demo; descriptions limited to displayed controls and information.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https://acmexii.github.io/cloudikehome/app/clipbook/ ; checked 2026-10-25 KST. main 9cff56d24c0207a332a88d58e970119630ffb53c. App UI only; no marketing homepage content. Static demo; descriptions limited to displayed controls and information.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https://acmexii.github.io/cloudikehome/app/favorites/ ; checked 2026-10-25 KST. main 9cff56d24c0207a332a88d58e970119630ffb53c. App UI only; no marketing homepage content. Static demo; descriptions limited to displayed controls and information.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https://acmexii.github.io/cloudikehome/app/trash/ ; checked 2026-10-25 KST. main 9cff56d24c0207a332a88d58e970119630ffb53c. App UI only; no marketing homepage content. Static demo; descriptions limited to displayed controls and information.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https://acmexii.github.io/cloudikehome/app/settings/profile/ ; checked 2026-10-25 KST. main 9cff56d24c0207a332a88d58e970119630ffb53c. App UI only; no marketing homepage content. Static demo; descriptions limited to displayed controls and information.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https://acmexii.github.io/cloudikehome/app/settings/profile/cloudastream/ ; checked 2026-10-25 KST. main 9cff56d24c0207a332a88d58e970119630ffb53c. App UI only; no marketing homepage content. Static demo; descriptions limited to displayed controls and information.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https://acmexii.github.io/cloudikehome/app/settings/company/ ; checked 2026-10-25 KST. main 9cff56d24c0207a332a88d58e970119630ffb53c. App UI only; no marketing homepage content. Static demo; descriptions limited to displayed controls and information.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https://acmexii.github.io/cloudikehome/app/settings/company/ ; checked 2026-10-25 KST. main 9cff56d24c0207a332a88d58e970119630ffb53c. App UI only; no marketing homepage content. Static demo; descriptions limited to displayed controls and information.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https://acmexii.github.io/cloudikehome/app/settings/company/forms/ ; checked 2026-10-25 KST. main 9cff56d24c0207a332a88d58e970119630ffb53c. App UI only; no marketing homepage content. Static demo; descriptions limited to displayed controls and information.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https://acmexii.github.io/cloudikehome/app/settings/team-management/ ; checked 2026-10-25 KST. main 9cff56d24c0207a332a88d58e970119630ffb53c. App UI only; no marketing homepage content. Static demo; descriptions limited to displayed controls and information.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https://acmexii.github.io/cloudikehome/app/settings/team-management/groups/ ; checked 2026-10-25 KST. main 9cff56d24c0207a332a88d58e970119630ffb53c. App UI only; no marketing homepage content. Static demo; descriptions limited to displayed controls and information.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https://acmexii.github.io/cloudikehome/app/settings/team-management/organization/ ; checked 2026-10-25 KST. main 9cff56d24c0207a332a88d58e970119630ffb53c. App UI only; no marketing homepage content. Static demo; descriptions limited to displayed controls and information.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https://acmexii.github.io/cloudikehome/app/settings/backup/ ; checked 2026-10-25 KST. main 9cff56d24c0207a332a88d58e970119630ffb53c. App UI only; no marketing homepage content. Static demo; descriptions limited to displayed controls and information.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https://acmexii.github.io/cloudikehome/app/settings/backup/archive/ ; checked 2026-10-25 KST. main 9cff56d24c0207a332a88d58e970119630ffb53c. App UI only; no marketing homepage content. Static demo; descriptions limited to displayed controls and information.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https://acmexii.github.io/cloudikehome/app/settings/activity-logs/ ; checked 2026-10-25 KST. main 9cff56d24c0207a332a88d58e970119630ffb53c. App UI only; no marketing homepage content. Static demo; descriptions limited to displayed controls and information.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https://acmexii.github.io/cloudikehome/app/settings/plan/ ; checked 2026-10-25 KST. main 9cff56d24c0207a332a88d58e970119630ffb53c. App UI only; no marketing homepage content. Static demo; descriptions limited to displayed controls and information.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https://acmexii.github.io/cloudikehome/app/settings/plan/business/ ; checked 2026-10-25 KST. main 9cff56d24c0207a332a88d58e970119630ffb53c. App UI only; no marketing homepage content. Static demo; descriptions limited to displayed controls and information.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https://acmexii.github.io/cloudikehome/app/settings/plan/enterprise/ ; checked 2026-10-25 KST. main 9cff56d24c0207a332a88d58e970119630ffb53c. App UI only; no marketing homepage content. Static demo; descriptions limited to displayed controls and information.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558bd1523f4ed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a23506def63461b" /><Relationship Type="http://schemas.openxmlformats.org/officeDocument/2006/relationships/slideLayout" Target="/ppt/slideLayouts/slideLayout1.xml" Id="R12e2223a4b73476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2e2223a4b73476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14ff11c57f47e5" /><Relationship Type="http://schemas.openxmlformats.org/officeDocument/2006/relationships/image" Target="/ppt/media/image.png" Id="Rca818266ca8a4203" /><Relationship Type="http://schemas.openxmlformats.org/officeDocument/2006/relationships/image" Target="/ppt/media/image2.png" Id="Recb001d7333643bb" /><Relationship Type="http://schemas.openxmlformats.org/officeDocument/2006/relationships/notesSlide" Target="/ppt/notesSlides/notesSlide1.xml" Id="Ree3a829a8619456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7641e36a6c4d57" /><Relationship Type="http://schemas.openxmlformats.org/officeDocument/2006/relationships/image" Target="/ppt/media/image3.png" Id="R8c6f78487c6d4b1e" /><Relationship Type="http://schemas.openxmlformats.org/officeDocument/2006/relationships/notesSlide" Target="/ppt/notesSlides/notesSlide2.xml" Id="R16e959b4c3284e9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eb3c199eae47c4" /><Relationship Type="http://schemas.openxmlformats.org/officeDocument/2006/relationships/image" Target="/ppt/media/image4.png" Id="Rad39f91f46d44dce" /><Relationship Type="http://schemas.openxmlformats.org/officeDocument/2006/relationships/image" Target="/ppt/media/image.jpeg" Id="R8deb1bc1cf28468f" /><Relationship Type="http://schemas.openxmlformats.org/officeDocument/2006/relationships/notesSlide" Target="/ppt/notesSlides/notesSlide3.xml" Id="R67f72ddcf02c491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5ae2feb7034a15" /><Relationship Type="http://schemas.openxmlformats.org/officeDocument/2006/relationships/image" Target="/ppt/media/image5.png" Id="R80bd50efef334694" /><Relationship Type="http://schemas.openxmlformats.org/officeDocument/2006/relationships/image" Target="/ppt/media/image2.jpeg" Id="R7ac5a8f17e704248" /><Relationship Type="http://schemas.openxmlformats.org/officeDocument/2006/relationships/notesSlide" Target="/ppt/notesSlides/notesSlide4.xml" Id="R874a24946f09473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aab72d9efa4a79" /><Relationship Type="http://schemas.openxmlformats.org/officeDocument/2006/relationships/image" Target="/ppt/media/image6.png" Id="R66c4055bd8d4473d" /><Relationship Type="http://schemas.openxmlformats.org/officeDocument/2006/relationships/image" Target="/ppt/media/image3.jpeg" Id="R233a8b142c57442e" /><Relationship Type="http://schemas.openxmlformats.org/officeDocument/2006/relationships/notesSlide" Target="/ppt/notesSlides/notesSlide5.xml" Id="Rd3318fe5f59c4fc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65e29ed5b24028" /><Relationship Type="http://schemas.openxmlformats.org/officeDocument/2006/relationships/image" Target="/ppt/media/image7.png" Id="Rdb66ca5856204de5" /><Relationship Type="http://schemas.openxmlformats.org/officeDocument/2006/relationships/image" Target="/ppt/media/image4.jpeg" Id="Rab97881cb6504999" /><Relationship Type="http://schemas.openxmlformats.org/officeDocument/2006/relationships/notesSlide" Target="/ppt/notesSlides/notesSlide6.xml" Id="R644a890ebd1b45d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1b8f3bc242442c" /><Relationship Type="http://schemas.openxmlformats.org/officeDocument/2006/relationships/image" Target="/ppt/media/image8.png" Id="R2eab6ad5f9d94906" /><Relationship Type="http://schemas.openxmlformats.org/officeDocument/2006/relationships/image" Target="/ppt/media/image5.jpeg" Id="R60c67b60b0ff4bcf" /><Relationship Type="http://schemas.openxmlformats.org/officeDocument/2006/relationships/notesSlide" Target="/ppt/notesSlides/notesSlide7.xml" Id="R031a31fd41e644c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40c699888d468c" /><Relationship Type="http://schemas.openxmlformats.org/officeDocument/2006/relationships/image" Target="/ppt/media/image9.png" Id="Rb52fa8c4065d4dc2" /><Relationship Type="http://schemas.openxmlformats.org/officeDocument/2006/relationships/image" Target="/ppt/media/image6.jpeg" Id="R660287cc49de439b" /><Relationship Type="http://schemas.openxmlformats.org/officeDocument/2006/relationships/notesSlide" Target="/ppt/notesSlides/notesSlide8.xml" Id="Rf1baaedee9ba47e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aaf4c2d795474f" /><Relationship Type="http://schemas.openxmlformats.org/officeDocument/2006/relationships/image" Target="/ppt/media/image10.png" Id="R0a8c54f62e8345a5" /><Relationship Type="http://schemas.openxmlformats.org/officeDocument/2006/relationships/image" Target="/ppt/media/image7.jpeg" Id="R879e1fd83b044386" /><Relationship Type="http://schemas.openxmlformats.org/officeDocument/2006/relationships/notesSlide" Target="/ppt/notesSlides/notesSlide9.xml" Id="R96e7c774d5de477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9eeb1bd5c64f0f" /><Relationship Type="http://schemas.openxmlformats.org/officeDocument/2006/relationships/image" Target="/ppt/media/image11.png" Id="R08b9d3703f064b8e" /><Relationship Type="http://schemas.openxmlformats.org/officeDocument/2006/relationships/image" Target="/ppt/media/image8.jpeg" Id="Rcc2acf4b433c4697" /><Relationship Type="http://schemas.openxmlformats.org/officeDocument/2006/relationships/notesSlide" Target="/ppt/notesSlides/notesSlide10.xml" Id="R88dca044d2634f5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94d1e843db409e" /><Relationship Type="http://schemas.openxmlformats.org/officeDocument/2006/relationships/image" Target="/ppt/media/image12.png" Id="R53e47ae0f0cf49ad" /><Relationship Type="http://schemas.openxmlformats.org/officeDocument/2006/relationships/image" Target="/ppt/media/image9.jpeg" Id="R604d5151a63549de" /><Relationship Type="http://schemas.openxmlformats.org/officeDocument/2006/relationships/notesSlide" Target="/ppt/notesSlides/notesSlide11.xml" Id="Ree17dde59c774eb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f4f0f2a0064194" /><Relationship Type="http://schemas.openxmlformats.org/officeDocument/2006/relationships/image" Target="/ppt/media/image13.png" Id="R0c6eeac4745d4226" /><Relationship Type="http://schemas.openxmlformats.org/officeDocument/2006/relationships/image" Target="/ppt/media/image10.jpeg" Id="R9141bc47c4ed4998" /><Relationship Type="http://schemas.openxmlformats.org/officeDocument/2006/relationships/notesSlide" Target="/ppt/notesSlides/notesSlide12.xml" Id="R3b3915d9da5f484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8040364b5942dc" /><Relationship Type="http://schemas.openxmlformats.org/officeDocument/2006/relationships/image" Target="/ppt/media/image14.png" Id="R202711a96eec4130" /><Relationship Type="http://schemas.openxmlformats.org/officeDocument/2006/relationships/image" Target="/ppt/media/image11.jpeg" Id="R1a5fe7838cbb42e7" /><Relationship Type="http://schemas.openxmlformats.org/officeDocument/2006/relationships/notesSlide" Target="/ppt/notesSlides/notesSlide13.xml" Id="R407827a0f973498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19160c49d649f0" /><Relationship Type="http://schemas.openxmlformats.org/officeDocument/2006/relationships/image" Target="/ppt/media/image15.png" Id="Rfcab51e097ce4c71" /><Relationship Type="http://schemas.openxmlformats.org/officeDocument/2006/relationships/image" Target="/ppt/media/image12.jpeg" Id="Re4ebe00599c445c0" /><Relationship Type="http://schemas.openxmlformats.org/officeDocument/2006/relationships/notesSlide" Target="/ppt/notesSlides/notesSlide14.xml" Id="R3ce5e5c3889743f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0801976d984c6f" /><Relationship Type="http://schemas.openxmlformats.org/officeDocument/2006/relationships/image" Target="/ppt/media/image16.png" Id="Rd231ba6e918c4229" /><Relationship Type="http://schemas.openxmlformats.org/officeDocument/2006/relationships/image" Target="/ppt/media/image13.jpeg" Id="R95e7573dbab74541" /><Relationship Type="http://schemas.openxmlformats.org/officeDocument/2006/relationships/notesSlide" Target="/ppt/notesSlides/notesSlide15.xml" Id="Rb26e774c06f24a0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0121d3f3a74d18" /><Relationship Type="http://schemas.openxmlformats.org/officeDocument/2006/relationships/image" Target="/ppt/media/image17.png" Id="Re66e0a0353ee4605" /><Relationship Type="http://schemas.openxmlformats.org/officeDocument/2006/relationships/image" Target="/ppt/media/image14.jpeg" Id="Rc60d4b7d4b0843c6" /><Relationship Type="http://schemas.openxmlformats.org/officeDocument/2006/relationships/notesSlide" Target="/ppt/notesSlides/notesSlide16.xml" Id="R22509d8ab21a43e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b963b16ee44526" /><Relationship Type="http://schemas.openxmlformats.org/officeDocument/2006/relationships/image" Target="/ppt/media/image18.png" Id="R04d1cdf12b4741e4" /><Relationship Type="http://schemas.openxmlformats.org/officeDocument/2006/relationships/image" Target="/ppt/media/image15.jpeg" Id="Ra82780de23544164" /><Relationship Type="http://schemas.openxmlformats.org/officeDocument/2006/relationships/notesSlide" Target="/ppt/notesSlides/notesSlide17.xml" Id="R4020d9c382444db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753bff519d4371" /><Relationship Type="http://schemas.openxmlformats.org/officeDocument/2006/relationships/image" Target="/ppt/media/image19.png" Id="Rfb9da032defe43ca" /><Relationship Type="http://schemas.openxmlformats.org/officeDocument/2006/relationships/image" Target="/ppt/media/image16.jpeg" Id="Rabf8b8013f094910" /><Relationship Type="http://schemas.openxmlformats.org/officeDocument/2006/relationships/notesSlide" Target="/ppt/notesSlides/notesSlide18.xml" Id="R0198b49b1466492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d046e37f174043" /><Relationship Type="http://schemas.openxmlformats.org/officeDocument/2006/relationships/image" Target="/ppt/media/image20.png" Id="Ra3f854477b744c85" /><Relationship Type="http://schemas.openxmlformats.org/officeDocument/2006/relationships/image" Target="/ppt/media/image17.jpeg" Id="R95457edb2bbe4cc9" /><Relationship Type="http://schemas.openxmlformats.org/officeDocument/2006/relationships/notesSlide" Target="/ppt/notesSlides/notesSlide19.xml" Id="Rd4e6346512124ae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c7d32608dc4dd3" /><Relationship Type="http://schemas.openxmlformats.org/officeDocument/2006/relationships/image" Target="/ppt/media/image21.png" Id="R9bbee4ccb35843a2" /><Relationship Type="http://schemas.openxmlformats.org/officeDocument/2006/relationships/image" Target="/ppt/media/image18.jpeg" Id="Recf8d2a5d7ec4d3d" /><Relationship Type="http://schemas.openxmlformats.org/officeDocument/2006/relationships/notesSlide" Target="/ppt/notesSlides/notesSlide20.xml" Id="R68855fca4c6a402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a1b6fd3d004148" /><Relationship Type="http://schemas.openxmlformats.org/officeDocument/2006/relationships/image" Target="/ppt/media/image22.png" Id="Rebcbd678fb704b0c" /><Relationship Type="http://schemas.openxmlformats.org/officeDocument/2006/relationships/image" Target="/ppt/media/image19.jpeg" Id="R73ecc6a8ffd04076" /><Relationship Type="http://schemas.openxmlformats.org/officeDocument/2006/relationships/notesSlide" Target="/ppt/notesSlides/notesSlide21.xml" Id="R5f462c1c546e4bb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80ed415f3c4444" /><Relationship Type="http://schemas.openxmlformats.org/officeDocument/2006/relationships/image" Target="/ppt/media/image23.png" Id="R9b9811c6eba84e90" /><Relationship Type="http://schemas.openxmlformats.org/officeDocument/2006/relationships/image" Target="/ppt/media/image20.jpeg" Id="R9717cfb66387427c" /><Relationship Type="http://schemas.openxmlformats.org/officeDocument/2006/relationships/notesSlide" Target="/ppt/notesSlides/notesSlide22.xml" Id="R3f59d633b0144a1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1977e5b24e484e" /><Relationship Type="http://schemas.openxmlformats.org/officeDocument/2006/relationships/image" Target="/ppt/media/image24.png" Id="Rccc0ac5a5d6845e6" /><Relationship Type="http://schemas.openxmlformats.org/officeDocument/2006/relationships/image" Target="/ppt/media/image21.jpeg" Id="R609ceacd93e24df4" /><Relationship Type="http://schemas.openxmlformats.org/officeDocument/2006/relationships/notesSlide" Target="/ppt/notesSlides/notesSlide23.xml" Id="Ra6ed7d26e33942e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109f8e3be4467a" /><Relationship Type="http://schemas.openxmlformats.org/officeDocument/2006/relationships/image" Target="/ppt/media/image25.png" Id="R7a9427fa6328470b" /><Relationship Type="http://schemas.openxmlformats.org/officeDocument/2006/relationships/image" Target="/ppt/media/image22.jpeg" Id="Rfa74d4d0f85745e8" /><Relationship Type="http://schemas.openxmlformats.org/officeDocument/2006/relationships/notesSlide" Target="/ppt/notesSlides/notesSlide24.xml" Id="R97b1cb420642445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b8de6329cc4801" /><Relationship Type="http://schemas.openxmlformats.org/officeDocument/2006/relationships/image" Target="/ppt/media/image26.png" Id="Rc4c6cbb125774238" /><Relationship Type="http://schemas.openxmlformats.org/officeDocument/2006/relationships/image" Target="/ppt/media/image23.jpeg" Id="Rb9aa6b7d21a34adb" /><Relationship Type="http://schemas.openxmlformats.org/officeDocument/2006/relationships/notesSlide" Target="/ppt/notesSlides/notesSlide25.xml" Id="R941913bb34d74ca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9fe0d20a454987" /><Relationship Type="http://schemas.openxmlformats.org/officeDocument/2006/relationships/image" Target="/ppt/media/image27.png" Id="R02af9c86906c46b9" /><Relationship Type="http://schemas.openxmlformats.org/officeDocument/2006/relationships/image" Target="/ppt/media/image24.jpeg" Id="R8649815284fb44e6" /><Relationship Type="http://schemas.openxmlformats.org/officeDocument/2006/relationships/notesSlide" Target="/ppt/notesSlides/notesSlide26.xml" Id="Rcb0c81a8567d4cb2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ea9d1762a94787" /><Relationship Type="http://schemas.openxmlformats.org/officeDocument/2006/relationships/image" Target="/ppt/media/image28.png" Id="R40f65e8b5350451e" /><Relationship Type="http://schemas.openxmlformats.org/officeDocument/2006/relationships/image" Target="/ppt/media/image25.jpeg" Id="R2a6fa992c8e840d1" /><Relationship Type="http://schemas.openxmlformats.org/officeDocument/2006/relationships/notesSlide" Target="/ppt/notesSlides/notesSlide27.xml" Id="R884c73e8333d4e49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dd2ee30a774472" /><Relationship Type="http://schemas.openxmlformats.org/officeDocument/2006/relationships/image" Target="/ppt/media/image29.png" Id="R05a18eb749274399" /><Relationship Type="http://schemas.openxmlformats.org/officeDocument/2006/relationships/image" Target="/ppt/media/image26.jpeg" Id="Re65fd8b0ef1a49d3" /><Relationship Type="http://schemas.openxmlformats.org/officeDocument/2006/relationships/notesSlide" Target="/ppt/notesSlides/notesSlide28.xml" Id="Rf818227d1201484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2D8E4B-5F6B-424B-A0BF-869EE2C81FF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818266ca8a4203"/>
          <a:stretch xmlns:a="http://schemas.openxmlformats.org/drawingml/2006/main"/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C389DA-3C25-4108-B5F7-A4641D46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33625"/>
            <a:ext cx="8191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클라우다이크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89505F-0203-48B9-9445-7D77A340A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0"/>
            <a:ext cx="8096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앱 서비스 전체 기능과</a:t>
            </a:r>
          </a:p>
          <a:p xmlns:a="http://schemas.openxmlformats.org/drawingml/2006/main">
            <a:pPr>
              <a:buNone/>
              <a:def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파일 요청함 사용 안내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BF5F31-7289-466E-9B57-690F0D03D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81625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2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2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2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2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2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2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2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2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2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서비스 소개서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4D8789-AA5F-4B83-A19D-ACE600ABE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0"/>
            <a:ext cx="7620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문서 관리 · 공유 · 파일 요청함 · 운영 설정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2AB36F-E4B7-43DE-879D-5AFEFE23E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667625"/>
            <a:ext cx="723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2026.10  |  앱 서비스 소개</a:t>
            </a:r>
          </a:p>
        </p:txBody>
      </p:sp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A48A65-82AE-4515-B06F-BEA12587EF1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b001d7333643bb"/>
          <a:stretch xmlns:a="http://schemas.openxmlformats.org/drawingml/2006/main"/>
        </p:blipFill>
        <p:spPr>
          <a:xfrm xmlns:a="http://schemas.openxmlformats.org/drawingml/2006/main">
            <a:off x="895350" y="6954007"/>
            <a:ext cx="2238375" cy="42711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774474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F2B4CB-27B4-4C3F-B06B-839C7069D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7A392B-F7CE-4CF6-BF26-01C873AA7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81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앱 서비스 기능 구성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F007A2-32B2-4A2E-BAB4-E04715CA2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앱에서 확인한 전체 메뉴와 하위 탭을 기능 흐름에 따라 소개합니다.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705F22-56D8-4675-837A-A02A33BC917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6f78487c6d4b1e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8F42DE-EA31-4429-8329-494900407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79C047-CDCF-4E1D-BF03-6B95FD63287D}"/>
              </a:ext>
            </a:extLst>
          </p:cNvPr>
          <p:cNvGraphicFramePr/>
          <p:nvPr/>
        </p:nvGraphicFramePr>
        <p:xfrm>
          <a:off xmlns:a="http://schemas.openxmlformats.org/drawingml/2006/main" x="762000" y="2143125"/>
          <a:ext xmlns:a="http://schemas.openxmlformats.org/drawingml/2006/main" cx="13716000" cy="4143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14625"/>
                <a:gridCol w="9334500"/>
                <a:gridCol w="1666875"/>
              </a:tblGrid>
              <a:tr h="591911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기능 영역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4D4"/>
                      </a:solidFill>
                    </a:lnL>
                    <a:lnR w="9525">
                      <a:solidFill>
                        <a:srgbClr val="D4D4D4"/>
                      </a:solidFill>
                    </a:lnR>
                    <a:lnT w="9525">
                      <a:solidFill>
                        <a:srgbClr val="D4D4D4"/>
                      </a:solidFill>
                    </a:lnT>
                    <a:lnB w="9525">
                      <a:solidFill>
                        <a:srgbClr val="D4D4D4"/>
                      </a:solidFill>
                    </a:lnB>
                    <a:solidFill>
                      <a:srgbClr val="6751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확인할 내용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</a:lnR>
                    <a:lnT w="9525">
                      <a:solidFill>
                        <a:srgbClr val="D4D4D4"/>
                      </a:solidFill>
                    </a:lnT>
                    <a:lnB w="9525">
                      <a:solidFill>
                        <a:srgbClr val="D4D4D4"/>
                      </a:solidFill>
                    </a:lnB>
                    <a:solidFill>
                      <a:srgbClr val="6751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페이지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</a:lnR>
                    <a:lnT w="9525">
                      <a:solidFill>
                        <a:srgbClr val="D4D4D4"/>
                      </a:solidFill>
                    </a:lnT>
                    <a:lnB w="9525">
                      <a:solidFill>
                        <a:srgbClr val="D4D4D4"/>
                      </a:solidFill>
                    </a:lnB>
                    <a:solidFill>
                      <a:srgbClr val="67519E"/>
                    </a:solidFill>
                  </a:tcPr>
                </a:tc>
              </a:tr>
              <a:tr h="591911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파일과 협업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4D4"/>
                      </a:solidFill>
                    </a:lnL>
                    <a:lnR w="9525">
                      <a:solidFill>
                        <a:srgbClr val="D4D4D4"/>
                      </a:solidFill>
                    </a:lnR>
                    <a:lnB w="9525">
                      <a:solidFill>
                        <a:srgbClr val="D4D4D4"/>
                      </a:solidFill>
                    </a:lnB>
                    <a:solidFill>
                      <a:srgbClr val="F1ED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대시보드 · 문서함 · 공유 문서 · 링크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</a:lnR>
                    <a:lnB w="9525">
                      <a:solidFill>
                        <a:srgbClr val="D4D4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3–7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</a:lnR>
                    <a:lnB w="9525">
                      <a:solidFill>
                        <a:srgbClr val="D4D4D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91911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파일 요청함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4D4"/>
                      </a:solidFill>
                    </a:lnL>
                    <a:lnR w="9525">
                      <a:solidFill>
                        <a:srgbClr val="D4D4D4"/>
                      </a:solidFill>
                    </a:lnR>
                    <a:lnB w="9525">
                      <a:solidFill>
                        <a:srgbClr val="D4D4D4"/>
                      </a:solidFill>
                    </a:lnB>
                    <a:solidFill>
                      <a:srgbClr val="F1ED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요청 목록 · 생성 · 링크 복사 · 예시 제출 · 결과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</a:lnR>
                    <a:lnB w="9525">
                      <a:solidFill>
                        <a:srgbClr val="D4D4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8–10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</a:lnR>
                    <a:lnB w="9525">
                      <a:solidFill>
                        <a:srgbClr val="D4D4D4"/>
                      </a:solidFill>
                    </a:lnB>
                    <a:solidFill>
                      <a:srgbClr val="F5F7F8"/>
                    </a:solidFill>
                  </a:tcPr>
                </a:tc>
              </a:tr>
              <a:tr h="591911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정리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4D4"/>
                      </a:solidFill>
                    </a:lnL>
                    <a:lnR w="9525">
                      <a:solidFill>
                        <a:srgbClr val="D4D4D4"/>
                      </a:solidFill>
                    </a:lnR>
                    <a:lnB w="9525">
                      <a:solidFill>
                        <a:srgbClr val="D4D4D4"/>
                      </a:solidFill>
                    </a:lnB>
                    <a:solidFill>
                      <a:srgbClr val="F1ED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기업 문서함 · 클립북 · 즐겨찾기 · 휴지통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</a:lnR>
                    <a:lnB w="9525">
                      <a:solidFill>
                        <a:srgbClr val="D4D4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11–14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</a:lnR>
                    <a:lnB w="9525">
                      <a:solidFill>
                        <a:srgbClr val="D4D4D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91911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계정과 기업 설정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4D4"/>
                      </a:solidFill>
                    </a:lnL>
                    <a:lnR w="9525">
                      <a:solidFill>
                        <a:srgbClr val="D4D4D4"/>
                      </a:solidFill>
                    </a:lnR>
                    <a:lnB w="9525">
                      <a:solidFill>
                        <a:srgbClr val="D4D4D4"/>
                      </a:solidFill>
                    </a:lnB>
                    <a:solidFill>
                      <a:srgbClr val="F1ED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프로필 · PC 연동 · 기업 정보 · 보안 · 결재 양식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</a:lnR>
                    <a:lnB w="9525">
                      <a:solidFill>
                        <a:srgbClr val="D4D4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15–19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</a:lnR>
                    <a:lnB w="9525">
                      <a:solidFill>
                        <a:srgbClr val="D4D4D4"/>
                      </a:solidFill>
                    </a:lnB>
                    <a:solidFill>
                      <a:srgbClr val="F5F7F8"/>
                    </a:solidFill>
                  </a:tcPr>
                </a:tc>
              </a:tr>
              <a:tr h="591911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팀 운영과 기록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4D4"/>
                      </a:solidFill>
                    </a:lnL>
                    <a:lnR w="9525">
                      <a:solidFill>
                        <a:srgbClr val="D4D4D4"/>
                      </a:solidFill>
                    </a:lnR>
                    <a:lnB w="9525">
                      <a:solidFill>
                        <a:srgbClr val="D4D4D4"/>
                      </a:solidFill>
                    </a:lnB>
                    <a:solidFill>
                      <a:srgbClr val="F1ED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팀원 · 그룹 · 조직 · 백업 · 아카이브 · 활동 로그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</a:lnR>
                    <a:lnB w="9525">
                      <a:solidFill>
                        <a:srgbClr val="D4D4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20–25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</a:lnR>
                    <a:lnB w="9525">
                      <a:solidFill>
                        <a:srgbClr val="D4D4D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91911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앱 내 플랜 설정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4D4"/>
                      </a:solidFill>
                    </a:lnL>
                    <a:lnR w="9525">
                      <a:solidFill>
                        <a:srgbClr val="D4D4D4"/>
                      </a:solidFill>
                    </a:lnR>
                    <a:lnB w="9525">
                      <a:solidFill>
                        <a:srgbClr val="D4D4D4"/>
                      </a:solidFill>
                    </a:lnB>
                    <a:solidFill>
                      <a:srgbClr val="F1ED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 현황 · Family · Business · Enterprise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</a:lnR>
                    <a:lnB w="9525">
                      <a:solidFill>
                        <a:srgbClr val="D4D4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26–28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</a:lnR>
                    <a:lnB w="9525">
                      <a:solidFill>
                        <a:srgbClr val="D4D4D4"/>
                      </a:solidFill>
                    </a:lnB>
                    <a:solidFill>
                      <a:srgbClr val="F5F7F8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FDBF23-74CD-4210-8435-3BBB026DE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66750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실습 범위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AB5523-E94D-46E4-A3E0-33CABABE6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124700"/>
            <a:ext cx="1362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파일 요청함은 브라우저 안에서 생성·제출 정보 기록이 동작합니다. 그 밖의 화면은 예시 데이터의 정적 사본입니다.</a:t>
            </a:r>
          </a:p>
          <a:p xmlns:a="http://schemas.openxmlformats.org/drawingml/2006/main">
            <a:pPr>
              <a:defRPr sz="16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문서 원문·실제 업로드·삭제·설정 저장·결제는 연결되지 않으며 전자결재 본문은 Trial에서 접근할 수 없습니다.</a:t>
            </a:r>
          </a:p>
        </p:txBody>
      </p:sp>
    </p:spTree>
    <p:extLst>
      <p:ext uri="{BB962C8B-B14F-4D97-AF65-F5344CB8AC3E}">
        <p14:creationId xmlns:p14="http://schemas.microsoft.com/office/powerpoint/2010/main" val="166386126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13E441-6918-4101-86AC-4A1174A70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A29896-70A4-4D19-8C9B-5BE2A9246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81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대시보드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BE3B70-2256-4734-B5CC-184C728F5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용량·트래픽과 최근 업로드 파일을 한 화면에서 확인합니다.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E0B6C4-FE5E-46A7-83E3-59A0012A07F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39f91f46d44dce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13CACA-749A-4E22-92DA-C46208E94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F3B375-D1D5-4615-801A-C5ECA9422D2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eb1bc1cf28468f"/>
          <a:stretch xmlns:a="http://schemas.openxmlformats.org/drawingml/2006/main"/>
        </p:blipFill>
        <p:spPr>
          <a:xfrm xmlns:a="http://schemas.openxmlformats.org/drawingml/2006/main">
            <a:off x="704850" y="2149078"/>
            <a:ext cx="9715500" cy="546496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5D0BF4-484E-4783-91C1-56B432CC4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114550"/>
            <a:ext cx="400050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D8EC"/>
            </a:solidFill>
          </a:ln>
        </p:spPr>
      </p:sp>
      <p:sp>
        <p:nvSpPr>
          <p:cNvPr id="8" name="Callout 1">
            <a:extLst xmlns:a="http://schemas.openxmlformats.org/drawingml/2006/main">
              <a:ext uri="{FF2B5EF4-FFF2-40B4-BE49-F238E27FC236}">
                <a16:creationId xmlns:a16="http://schemas.microsoft.com/office/drawing/2014/main" id="{4E1A0E05-6972-4E15-8194-C70D9A6CD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3310" y="2462288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Callout 1">
            <a:extLst xmlns:a="http://schemas.openxmlformats.org/drawingml/2006/main">
              <a:ext uri="{FF2B5EF4-FFF2-40B4-BE49-F238E27FC236}">
                <a16:creationId xmlns:a16="http://schemas.microsoft.com/office/drawing/2014/main" id="{6BACDB4C-FE31-4E73-8DBC-FF783F3EC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3812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337E12-EA43-477A-BA8A-AF552D380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3812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개인·기업 용량과 트래픽</a:t>
            </a:r>
          </a:p>
        </p:txBody>
      </p:sp>
      <p:sp>
        <p:nvSpPr>
          <p:cNvPr id="11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E8EE70B3-1D9B-4AD1-92E6-71387BACB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29337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각 카드에서 사용 중인 용량과 최대 사용 가능 용량을 구분합니다. 화면의 10GB 등 수치는 실습용 예시이며 현재 계약 조건을 의미하지 않습니다.</a:t>
            </a:r>
          </a:p>
        </p:txBody>
      </p:sp>
      <p:sp>
        <p:nvSpPr>
          <p:cNvPr id="12" name="Callout 2">
            <a:extLst xmlns:a="http://schemas.openxmlformats.org/drawingml/2006/main">
              <a:ext uri="{FF2B5EF4-FFF2-40B4-BE49-F238E27FC236}">
                <a16:creationId xmlns:a16="http://schemas.microsoft.com/office/drawing/2014/main" id="{6B62D9CC-19C3-4D07-AC99-1F3BAEC14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3310" y="4919964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3" name="Callout 2">
            <a:extLst xmlns:a="http://schemas.openxmlformats.org/drawingml/2006/main">
              <a:ext uri="{FF2B5EF4-FFF2-40B4-BE49-F238E27FC236}">
                <a16:creationId xmlns:a16="http://schemas.microsoft.com/office/drawing/2014/main" id="{4F2C5418-93C3-4C95-9B52-7C0EAF799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49339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ED6263-EB45-4DC1-A917-BD13FB42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9339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최근 업로드 파일</a:t>
            </a:r>
          </a:p>
        </p:txBody>
      </p:sp>
      <p:sp>
        <p:nvSpPr>
          <p:cNvPr id="15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9ADE0F58-8D83-4B2F-BA83-B2AAAE723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54864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이름·경로·작성자·크기·수정일로 최근 파일을 파악합니다. 검색과 보기 전환 버튼의 위치, 문서함으로 이동하는 경로를 확인할 수 있습니다.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197B97-CABF-47FA-9A37-8B7248B6E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91475"/>
            <a:ext cx="1314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앱 화면: 예시 데이터이며 실제 업로드·삭제·설정 저장·결제는 실행되지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41336333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561BE1-378F-4FA7-B9AF-137A64B9D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EB781E-AEAC-425A-8440-87154FA74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81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모든 문서함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7665F6-CAA2-4A1D-B1E0-A0FE91021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개인 파일을 찾고 업로드·폴더 관리 메뉴를 살펴봅니다.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67D2A9-5618-4781-9CA6-898330CB006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bd50efef334694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335DBE-EF19-4E37-A4E1-911C9DE96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76641F-D2F0-4C5A-BD63-58863C238D0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c5a8f17e704248"/>
          <a:stretch xmlns:a="http://schemas.openxmlformats.org/drawingml/2006/main"/>
        </p:blipFill>
        <p:spPr>
          <a:xfrm xmlns:a="http://schemas.openxmlformats.org/drawingml/2006/main">
            <a:off x="704850" y="2149078"/>
            <a:ext cx="9715500" cy="546496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8E1823-30A7-4035-9F23-015087BFB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114550"/>
            <a:ext cx="400050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D8EC"/>
            </a:solidFill>
          </a:ln>
        </p:spPr>
      </p:sp>
      <p:sp>
        <p:nvSpPr>
          <p:cNvPr id="8" name="Callout 1">
            <a:extLst xmlns:a="http://schemas.openxmlformats.org/drawingml/2006/main">
              <a:ext uri="{FF2B5EF4-FFF2-40B4-BE49-F238E27FC236}">
                <a16:creationId xmlns:a16="http://schemas.microsoft.com/office/drawing/2014/main" id="{EDF3FDD4-783A-4BF9-95B4-745D8F8AE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1712" y="2807898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Callout 1">
            <a:extLst xmlns:a="http://schemas.openxmlformats.org/drawingml/2006/main">
              <a:ext uri="{FF2B5EF4-FFF2-40B4-BE49-F238E27FC236}">
                <a16:creationId xmlns:a16="http://schemas.microsoft.com/office/drawing/2014/main" id="{82887006-EEEF-434F-A106-561DE7DE1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3812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3C407C-E6D7-4AFA-83B3-0B631E0F9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3812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새 폴더·파일 메뉴</a:t>
            </a:r>
          </a:p>
        </p:txBody>
      </p:sp>
      <p:sp>
        <p:nvSpPr>
          <p:cNvPr id="11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9278CC91-CFD4-42A1-BAD3-50A7E835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29337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문서함 상단의 새 폴더와 새 파일 메뉴, 왼쪽 업로드 영역에서 파일 관리의 시작점을 확인합니다. 실습용 사본에서는 실제 업로드와 폴더 생성은 실행되지 않습니다.</a:t>
            </a:r>
          </a:p>
        </p:txBody>
      </p:sp>
      <p:sp>
        <p:nvSpPr>
          <p:cNvPr id="12" name="Callout 2">
            <a:extLst xmlns:a="http://schemas.openxmlformats.org/drawingml/2006/main">
              <a:ext uri="{FF2B5EF4-FFF2-40B4-BE49-F238E27FC236}">
                <a16:creationId xmlns:a16="http://schemas.microsoft.com/office/drawing/2014/main" id="{C1465602-4DEE-4A29-9C9E-AF1B403FC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1712" y="3729527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3" name="Callout 2">
            <a:extLst xmlns:a="http://schemas.openxmlformats.org/drawingml/2006/main">
              <a:ext uri="{FF2B5EF4-FFF2-40B4-BE49-F238E27FC236}">
                <a16:creationId xmlns:a16="http://schemas.microsoft.com/office/drawing/2014/main" id="{D21529C9-4D8C-4ED4-BCF3-759117B67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49339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9103FD-9E59-4ACC-A149-3CBBF70DA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9339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파일 목록과 조회</a:t>
            </a:r>
          </a:p>
        </p:txBody>
      </p:sp>
      <p:sp>
        <p:nvSpPr>
          <p:cNvPr id="15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4E451E96-DE3D-41DC-9BB3-C158BFD32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54864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예시 파일의 이름·작성자·크기·수정일을 확인합니다. 항목 선택, 검색과 보기 전환 등 표시된 도구의 용도를 파악하며 원문 열람을 완료한 것으로 보지 않습니다.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4A310C-3742-48A9-B0ED-A6AF50D8D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91475"/>
            <a:ext cx="1314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앱 화면: 예시 데이터이며 실제 업로드·삭제·설정 저장·결제는 실행되지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73959966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6ED637-C6EB-42F9-8059-3482482DC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A3E894-29AA-4767-A82A-52278EBA4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81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공유 문서함: 내가 공유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6EC990-D9C4-4D2D-B773-24BADB789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내가 공유한 문서를 모아 보는 위치입니다.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4D1E13-487D-407E-AD65-4ED9D534A8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c4055bd8d4473d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535B83-4DB4-4FBC-9866-A3258E090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3538A4-3393-497C-9BAD-0C5A142F7E8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3a8b142c57442e"/>
          <a:stretch xmlns:a="http://schemas.openxmlformats.org/drawingml/2006/main"/>
        </p:blipFill>
        <p:spPr>
          <a:xfrm xmlns:a="http://schemas.openxmlformats.org/drawingml/2006/main">
            <a:off x="704850" y="2149078"/>
            <a:ext cx="9715500" cy="546496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11EDE3-9147-4FBA-856B-3B1ACF178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114550"/>
            <a:ext cx="400050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D8EC"/>
            </a:solidFill>
          </a:ln>
        </p:spPr>
      </p:sp>
      <p:sp>
        <p:nvSpPr>
          <p:cNvPr id="8" name="Callout 1">
            <a:extLst xmlns:a="http://schemas.openxmlformats.org/drawingml/2006/main">
              <a:ext uri="{FF2B5EF4-FFF2-40B4-BE49-F238E27FC236}">
                <a16:creationId xmlns:a16="http://schemas.microsoft.com/office/drawing/2014/main" id="{5FC9EDE4-D5A6-43EC-AC0A-4F1B8D465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1712" y="2807898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Callout 1">
            <a:extLst xmlns:a="http://schemas.openxmlformats.org/drawingml/2006/main">
              <a:ext uri="{FF2B5EF4-FFF2-40B4-BE49-F238E27FC236}">
                <a16:creationId xmlns:a16="http://schemas.microsoft.com/office/drawing/2014/main" id="{52DEEBA5-D589-43BF-8F07-B9E555A78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3812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0B04EB-4482-4397-B07C-E2086544C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3812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공유 방향 구분</a:t>
            </a:r>
          </a:p>
        </p:txBody>
      </p:sp>
      <p:sp>
        <p:nvSpPr>
          <p:cNvPr id="11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241BBAEA-6ADE-4D1B-8991-D9E2EC519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29337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공유 문서함의 내가 공유 탭에서 다른 사람에게 공유한 항목을 확인하는 화면입니다. 전달받은 문서와 구분하여 관리하도록 메뉴가 나뉘어 있습니다.</a:t>
            </a:r>
          </a:p>
        </p:txBody>
      </p:sp>
      <p:sp>
        <p:nvSpPr>
          <p:cNvPr id="12" name="Callout 2">
            <a:extLst xmlns:a="http://schemas.openxmlformats.org/drawingml/2006/main">
              <a:ext uri="{FF2B5EF4-FFF2-40B4-BE49-F238E27FC236}">
                <a16:creationId xmlns:a16="http://schemas.microsoft.com/office/drawing/2014/main" id="{0D3BC93F-2392-411C-AC8E-FE12626E8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1712" y="3729527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3" name="Callout 2">
            <a:extLst xmlns:a="http://schemas.openxmlformats.org/drawingml/2006/main">
              <a:ext uri="{FF2B5EF4-FFF2-40B4-BE49-F238E27FC236}">
                <a16:creationId xmlns:a16="http://schemas.microsoft.com/office/drawing/2014/main" id="{F1C1DC7D-6B2C-4488-8D39-D05C1EBB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49339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A762E5-14D7-4173-8626-672152804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9339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공유 항목 목록</a:t>
            </a:r>
          </a:p>
        </p:txBody>
      </p:sp>
      <p:sp>
        <p:nvSpPr>
          <p:cNvPr id="15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8E2EB072-3BF4-4F03-AC0A-4CC067DF6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54864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문서 이름·소유자·크기·수정일 등 목록의 열을 확인합니다. 현재는 빈 화면으로 제공되며 공유 항목이 없다는 표시가 기능 미제공을 뜻하지는 않습니다.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E04941-602E-4103-B4EA-7C7FCA1B0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91475"/>
            <a:ext cx="1314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앱 화면: 예시 데이터이며 실제 업로드·삭제·설정 저장·결제는 실행되지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34390933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B9AA23-C298-4682-AA51-061391221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5EFB76-0539-44BE-B688-365CA0B1F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81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공유 문서함: 나에게 공유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9DCEDB-2ED4-4AAE-82DB-CBFE25316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다른 사람이 공유한 문서를 확인하는 위치입니다.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90C7CB-35F4-4B57-85AA-FF8A1071B55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66ca5856204de5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12931E-C843-4373-9587-6E47B210A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D27412-58B3-4C4B-9DC6-BCFE871256B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97881cb6504999"/>
          <a:stretch xmlns:a="http://schemas.openxmlformats.org/drawingml/2006/main"/>
        </p:blipFill>
        <p:spPr>
          <a:xfrm xmlns:a="http://schemas.openxmlformats.org/drawingml/2006/main">
            <a:off x="704850" y="2149078"/>
            <a:ext cx="9715500" cy="546496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E5B03D-26D9-4563-9101-79BF98AB6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114550"/>
            <a:ext cx="400050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D8EC"/>
            </a:solidFill>
          </a:ln>
        </p:spPr>
      </p:sp>
      <p:sp>
        <p:nvSpPr>
          <p:cNvPr id="8" name="Callout 1">
            <a:extLst xmlns:a="http://schemas.openxmlformats.org/drawingml/2006/main">
              <a:ext uri="{FF2B5EF4-FFF2-40B4-BE49-F238E27FC236}">
                <a16:creationId xmlns:a16="http://schemas.microsoft.com/office/drawing/2014/main" id="{B403A034-CD32-4893-AADF-3842B092F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1712" y="2807898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Callout 1">
            <a:extLst xmlns:a="http://schemas.openxmlformats.org/drawingml/2006/main">
              <a:ext uri="{FF2B5EF4-FFF2-40B4-BE49-F238E27FC236}">
                <a16:creationId xmlns:a16="http://schemas.microsoft.com/office/drawing/2014/main" id="{7A76B6CE-6C93-4424-A315-FE6B985C4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3812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6A43FB-1F1C-46AE-A4A6-82BAF3C7B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3812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전달받은 문서</a:t>
            </a:r>
          </a:p>
        </p:txBody>
      </p:sp>
      <p:sp>
        <p:nvSpPr>
          <p:cNvPr id="11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E336DC3F-5204-4B5D-99D3-3B3B2732E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29337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나에게 공유 메뉴를 통해 내가 공유한 항목과 전달받은 항목을 구분합니다. 실습에서는 실제 외부 사용자의 공유 데이터를 불러오지 않습니다.</a:t>
            </a:r>
          </a:p>
        </p:txBody>
      </p:sp>
      <p:sp>
        <p:nvSpPr>
          <p:cNvPr id="12" name="Callout 2">
            <a:extLst xmlns:a="http://schemas.openxmlformats.org/drawingml/2006/main">
              <a:ext uri="{FF2B5EF4-FFF2-40B4-BE49-F238E27FC236}">
                <a16:creationId xmlns:a16="http://schemas.microsoft.com/office/drawing/2014/main" id="{61A7A000-83BD-480B-8CBE-24244FA97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1712" y="3729527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3" name="Callout 2">
            <a:extLst xmlns:a="http://schemas.openxmlformats.org/drawingml/2006/main">
              <a:ext uri="{FF2B5EF4-FFF2-40B4-BE49-F238E27FC236}">
                <a16:creationId xmlns:a16="http://schemas.microsoft.com/office/drawing/2014/main" id="{C854E272-CCDE-4D63-9734-774536B82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49339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F4B635-CC6B-44A3-A3FB-2767FC77B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9339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공유 목록 확인</a:t>
            </a:r>
          </a:p>
        </p:txBody>
      </p:sp>
      <p:sp>
        <p:nvSpPr>
          <p:cNvPr id="15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7720C453-479E-4098-869D-47D473FCD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54864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표의 문서 정보와 빈 상태 안내를 확인합니다. 문서가 있는 경우를 가정한 권한 변경이나 원문 열람 동작은 이 사본에서 검증되지 않았습니다.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8A0543-5AA4-4401-8BAB-E922BE68E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91475"/>
            <a:ext cx="1314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앱 화면: 예시 데이터이며 실제 업로드·삭제·설정 저장·결제는 실행되지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37262934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765F6A-0989-4E07-BBE7-1243809D1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916C53-6E1A-4015-9AAF-AC55251F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81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공유 링크 관리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1BCBC3-0081-41C1-84D4-3648B67F7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생성한 문서 링크를 목록으로 관리하는 화면입니다.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C46D4D-E9E5-4155-8D04-9D95615CABB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ab6ad5f9d94906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A7E15E-267A-4FE4-9152-00949D1F4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7D6FF3-4FAC-4999-AC5E-798C203859C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c67b60b0ff4bcf"/>
          <a:stretch xmlns:a="http://schemas.openxmlformats.org/drawingml/2006/main"/>
        </p:blipFill>
        <p:spPr>
          <a:xfrm xmlns:a="http://schemas.openxmlformats.org/drawingml/2006/main">
            <a:off x="704850" y="2149078"/>
            <a:ext cx="9715500" cy="546496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A51F03-F343-45E7-8747-BAC32C8A5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114550"/>
            <a:ext cx="400050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D8EC"/>
            </a:solidFill>
          </a:ln>
        </p:spPr>
      </p:sp>
      <p:sp>
        <p:nvSpPr>
          <p:cNvPr id="8" name="Callout 1">
            <a:extLst xmlns:a="http://schemas.openxmlformats.org/drawingml/2006/main">
              <a:ext uri="{FF2B5EF4-FFF2-40B4-BE49-F238E27FC236}">
                <a16:creationId xmlns:a16="http://schemas.microsoft.com/office/drawing/2014/main" id="{379205AD-1CE5-472C-87B0-B8EEE77C5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1712" y="2807898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Callout 1">
            <a:extLst xmlns:a="http://schemas.openxmlformats.org/drawingml/2006/main">
              <a:ext uri="{FF2B5EF4-FFF2-40B4-BE49-F238E27FC236}">
                <a16:creationId xmlns:a16="http://schemas.microsoft.com/office/drawing/2014/main" id="{E498A13A-1367-421D-AAFA-EA02A3232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3812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48265D-8DAD-4737-BED2-CDF75849A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3812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공유 링크 메뉴</a:t>
            </a:r>
          </a:p>
        </p:txBody>
      </p:sp>
      <p:sp>
        <p:nvSpPr>
          <p:cNvPr id="11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3B31B494-9B3C-4996-84E9-B76DB11EA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29337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공유 문서함 하위의 공유링크를 선택하면 링크 관리 화면으로 이동합니다. 사람에게 공유한 문서와 링크를 통해 공유하는 항목을 분리해 확인합니다.</a:t>
            </a:r>
          </a:p>
        </p:txBody>
      </p:sp>
      <p:sp>
        <p:nvSpPr>
          <p:cNvPr id="12" name="Callout 2">
            <a:extLst xmlns:a="http://schemas.openxmlformats.org/drawingml/2006/main">
              <a:ext uri="{FF2B5EF4-FFF2-40B4-BE49-F238E27FC236}">
                <a16:creationId xmlns:a16="http://schemas.microsoft.com/office/drawing/2014/main" id="{A1EE3506-D4B6-47D4-B232-65A27E2BB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1712" y="3729527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3" name="Callout 2">
            <a:extLst xmlns:a="http://schemas.openxmlformats.org/drawingml/2006/main">
              <a:ext uri="{FF2B5EF4-FFF2-40B4-BE49-F238E27FC236}">
                <a16:creationId xmlns:a16="http://schemas.microsoft.com/office/drawing/2014/main" id="{E6B7870A-33FC-430F-A30D-C61B2215E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49339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2D64BA-2E98-431D-B118-5F533C1C7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9339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링크 목록 정보</a:t>
            </a:r>
          </a:p>
        </p:txBody>
      </p:sp>
      <p:sp>
        <p:nvSpPr>
          <p:cNvPr id="15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E10E9D0F-E43C-426B-91F1-F15312831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54864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화면에 표시된 링크 관련 열과 상태를 확인합니다. 현재 목록은 비어 있으며 이 사본에서 실제 공유 링크 발급·접근 제어는 수행되지 않습니다.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817E45-2137-45D7-8F9C-F92A8658B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91475"/>
            <a:ext cx="1314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앱 화면: 예시 데이터이며 실제 업로드·삭제·설정 저장·결제는 실행되지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22500879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E3C872-55D2-4FAE-A9A4-A3F5D8129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55F621-930C-4BEF-BADA-EFAFE2AD9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81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파일 요청함: 요청 목록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21B913-4F59-4F96-ACD2-C56EA0907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요청명·제출 기한·제출 건수·진행 상태를 한곳에서 봅니다.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AA8C9A-609B-4B2F-BE5A-A1D1EF48CEE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2fa8c4065d4dc2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52B6E4-2536-47A0-9D9F-A0EC02AA0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0F9C47-ECFE-4343-BA98-B5C76170CF3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0287cc49de439b"/>
          <a:stretch xmlns:a="http://schemas.openxmlformats.org/drawingml/2006/main"/>
        </p:blipFill>
        <p:spPr>
          <a:xfrm xmlns:a="http://schemas.openxmlformats.org/drawingml/2006/main">
            <a:off x="704850" y="2149078"/>
            <a:ext cx="9715500" cy="546496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59A4BF-55F5-4B5E-A72F-C543BE2FF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114550"/>
            <a:ext cx="400050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D8EC"/>
            </a:solidFill>
          </a:ln>
        </p:spPr>
      </p:sp>
      <p:sp>
        <p:nvSpPr>
          <p:cNvPr id="8" name="Callout 1">
            <a:extLst xmlns:a="http://schemas.openxmlformats.org/drawingml/2006/main">
              <a:ext uri="{FF2B5EF4-FFF2-40B4-BE49-F238E27FC236}">
                <a16:creationId xmlns:a16="http://schemas.microsoft.com/office/drawing/2014/main" id="{1E1AB97F-BC10-4AB8-8011-E164DE342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3310" y="4459149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Callout 1">
            <a:extLst xmlns:a="http://schemas.openxmlformats.org/drawingml/2006/main">
              <a:ext uri="{FF2B5EF4-FFF2-40B4-BE49-F238E27FC236}">
                <a16:creationId xmlns:a16="http://schemas.microsoft.com/office/drawing/2014/main" id="{E3C33695-275A-4690-94BC-343361422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3812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B6212B-0AFB-422A-996F-29C843B59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3812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요청 현황과 목록</a:t>
            </a:r>
          </a:p>
        </p:txBody>
      </p:sp>
      <p:sp>
        <p:nvSpPr>
          <p:cNvPr id="11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7F4B744E-4EE0-4182-B652-A78BBB67C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29337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전체 요청·접수 중·제출 파일 현황을 확인합니다. 목록에는 요청 제목, 기한, 제출 건수와 파일 수, 접수 상태가 표시되며 제목을 선택하면 상세가 열립니다.</a:t>
            </a:r>
          </a:p>
        </p:txBody>
      </p:sp>
      <p:sp>
        <p:nvSpPr>
          <p:cNvPr id="12" name="Callout 2">
            <a:extLst xmlns:a="http://schemas.openxmlformats.org/drawingml/2006/main">
              <a:ext uri="{FF2B5EF4-FFF2-40B4-BE49-F238E27FC236}">
                <a16:creationId xmlns:a16="http://schemas.microsoft.com/office/drawing/2014/main" id="{6674E55F-A92F-4957-BDA1-07C8C977B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3429" y="561118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3" name="Callout 2">
            <a:extLst xmlns:a="http://schemas.openxmlformats.org/drawingml/2006/main">
              <a:ext uri="{FF2B5EF4-FFF2-40B4-BE49-F238E27FC236}">
                <a16:creationId xmlns:a16="http://schemas.microsoft.com/office/drawing/2014/main" id="{56523043-6655-471B-9558-EEF64F503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49339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B27131-BB89-45F5-95FB-6AAD53DFA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9339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제출 건수와 파일 수</a:t>
            </a:r>
          </a:p>
        </p:txBody>
      </p:sp>
      <p:sp>
        <p:nvSpPr>
          <p:cNvPr id="15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9612AA0D-55AF-46BE-86C7-6D592944B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54864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예시 파일 두 개를 한 번 제출한 요청은 1건 · 2개로 표시됩니다. 파일 개수와 제출 횟수를 구분하며 저장된 결과는 같은 브라우저에서 유지됩니다.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47E081-1C42-4FC0-BA97-186732C47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91475"/>
            <a:ext cx="1314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브라우저 실습: 파일 본문은 전송하지 않으며 요청·제출 정보는 현재 브라우저에만 저장됩니다.</a:t>
            </a:r>
          </a:p>
        </p:txBody>
      </p:sp>
    </p:spTree>
    <p:extLst>
      <p:ext uri="{BB962C8B-B14F-4D97-AF65-F5344CB8AC3E}">
        <p14:creationId xmlns:p14="http://schemas.microsoft.com/office/powerpoint/2010/main" val="159644774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5B256F-E661-4C5F-AA7C-E0C9D4B9D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6C47CB-340F-4699-B9B6-CE33F9151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81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파일 요청함: 요청 생성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0D0017-29C1-4586-A67A-9BE1C8BE5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제목·설명·제출 기한을 입력해 필요한 파일을 요청합니다.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CB84B6-F2EB-4126-89D8-871CEC482F0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8c54f62e8345a5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8316CC-B9D6-4CE5-89FB-E50224184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CAFB79-BFC6-4003-BE9A-AE4A27B6301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9e1fd83b044386"/>
          <a:stretch xmlns:a="http://schemas.openxmlformats.org/drawingml/2006/main"/>
        </p:blipFill>
        <p:spPr>
          <a:xfrm xmlns:a="http://schemas.openxmlformats.org/drawingml/2006/main">
            <a:off x="704850" y="2149078"/>
            <a:ext cx="9715500" cy="546496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D6BC28-0470-4B77-95FC-7B40B7B5A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114550"/>
            <a:ext cx="400050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D8EC"/>
            </a:solidFill>
          </a:ln>
        </p:spPr>
      </p:sp>
      <p:sp>
        <p:nvSpPr>
          <p:cNvPr id="8" name="Callout 1">
            <a:extLst xmlns:a="http://schemas.openxmlformats.org/drawingml/2006/main">
              <a:ext uri="{FF2B5EF4-FFF2-40B4-BE49-F238E27FC236}">
                <a16:creationId xmlns:a16="http://schemas.microsoft.com/office/drawing/2014/main" id="{00B57C1C-16F4-4C3C-930F-A7D7376E0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4532" y="28463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Callout 1">
            <a:extLst xmlns:a="http://schemas.openxmlformats.org/drawingml/2006/main">
              <a:ext uri="{FF2B5EF4-FFF2-40B4-BE49-F238E27FC236}">
                <a16:creationId xmlns:a16="http://schemas.microsoft.com/office/drawing/2014/main" id="{E10844B3-248E-45AA-87AF-737554226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3812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706933-B2F0-450E-8545-DAAB99A66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3812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제목과 설명 입력</a:t>
            </a:r>
          </a:p>
        </p:txBody>
      </p:sp>
      <p:sp>
        <p:nvSpPr>
          <p:cNvPr id="11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9222863E-2AA3-45F9-A227-0FEB98992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29337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새 요청에서 10월 프로젝트 산출물 제출처럼 요청 목적을 제목에 적습니다. 설명에는 제출할 자료와 안내 사항을 입력하며 요청 제목은 필수입니다.</a:t>
            </a:r>
          </a:p>
        </p:txBody>
      </p:sp>
      <p:sp>
        <p:nvSpPr>
          <p:cNvPr id="12" name="Callout 2">
            <a:extLst xmlns:a="http://schemas.openxmlformats.org/drawingml/2006/main">
              <a:ext uri="{FF2B5EF4-FFF2-40B4-BE49-F238E27FC236}">
                <a16:creationId xmlns:a16="http://schemas.microsoft.com/office/drawing/2014/main" id="{55866D61-C844-469E-BEA6-72D8FB441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4532" y="4382347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3" name="Callout 2">
            <a:extLst xmlns:a="http://schemas.openxmlformats.org/drawingml/2006/main">
              <a:ext uri="{FF2B5EF4-FFF2-40B4-BE49-F238E27FC236}">
                <a16:creationId xmlns:a16="http://schemas.microsoft.com/office/drawing/2014/main" id="{89ED27A2-B823-4D6A-9030-46104FBB6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49339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F3D9B8-FE6B-4D3C-807A-680041BCB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9339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기한 설정과 생성</a:t>
            </a:r>
          </a:p>
        </p:txBody>
      </p:sp>
      <p:sp>
        <p:nvSpPr>
          <p:cNvPr id="15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EA16B815-AB6C-4A5A-AE79-1EA26CBAA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54864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제출 기한을 정하고 요청 생성을 누르면 목록과 상세 화면에 추가됩니다. 기한이 지난 요청은 접수가 마감되며 요청·제출 정보는 현재 브라우저에만 저장됩니다.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AF480B-5CD2-4508-8634-694E4E87F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91475"/>
            <a:ext cx="1314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브라우저 실습: 파일 본문은 전송하지 않으며 요청·제출 정보는 현재 브라우저에만 저장됩니다.</a:t>
            </a:r>
          </a:p>
        </p:txBody>
      </p:sp>
    </p:spTree>
    <p:extLst>
      <p:ext uri="{BB962C8B-B14F-4D97-AF65-F5344CB8AC3E}">
        <p14:creationId xmlns:p14="http://schemas.microsoft.com/office/powerpoint/2010/main" val="92460627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492C08-4FC8-48B0-A144-2FBF0A4BA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15CFC0-BD85-47A8-B12E-E3A4645A2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81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파일 요청함: 링크와 제출 결과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09C1A4-D1E0-47C3-8D99-1BA2C5C3E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제출 링크 복사부터 예시 파일 접수 결과 확인까지 이어집니다.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0A774F-03C5-4C78-8649-E0D97DD06EE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b9d3703f064b8e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5CF4B8-8AFD-4466-AF56-5ECDD0C63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7C78EB-2AF2-44BE-BFAF-75421D0F3ED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2acf4b433c4697"/>
          <a:stretch xmlns:a="http://schemas.openxmlformats.org/drawingml/2006/main"/>
        </p:blipFill>
        <p:spPr>
          <a:xfrm xmlns:a="http://schemas.openxmlformats.org/drawingml/2006/main">
            <a:off x="704850" y="2147398"/>
            <a:ext cx="9715500" cy="546832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0E6878-6036-4A92-A107-28C1CA58C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114550"/>
            <a:ext cx="400050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D8EC"/>
            </a:solidFill>
          </a:ln>
        </p:spPr>
      </p:sp>
      <p:sp>
        <p:nvSpPr>
          <p:cNvPr id="8" name="Callout 1">
            <a:extLst xmlns:a="http://schemas.openxmlformats.org/drawingml/2006/main">
              <a:ext uri="{FF2B5EF4-FFF2-40B4-BE49-F238E27FC236}">
                <a16:creationId xmlns:a16="http://schemas.microsoft.com/office/drawing/2014/main" id="{CAEAEC56-CAE1-49A9-B1AE-F5F6D6A84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5316" y="2923102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Callout 1">
            <a:extLst xmlns:a="http://schemas.openxmlformats.org/drawingml/2006/main">
              <a:ext uri="{FF2B5EF4-FFF2-40B4-BE49-F238E27FC236}">
                <a16:creationId xmlns:a16="http://schemas.microsoft.com/office/drawing/2014/main" id="{D584FFCF-40CC-488D-9185-3BC1285B0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3812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7F6258-E251-4061-916D-C2669E99E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3812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제출 링크와 파일 선택</a:t>
            </a:r>
          </a:p>
        </p:txBody>
      </p:sp>
      <p:sp>
        <p:nvSpPr>
          <p:cNvPr id="11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3E784980-1284-4466-B34A-6589B4914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29337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제출 링크 복사를 눌러 주소를 복사합니다. 이 실습 링크는 같은 브라우저에서 사용하며 다른 기기와 동기화되지 않습니다. 이름 입력 후 예시 파일을 선택해 제출합니다.</a:t>
            </a:r>
          </a:p>
        </p:txBody>
      </p:sp>
      <p:sp>
        <p:nvSpPr>
          <p:cNvPr id="12" name="Callout 2">
            <a:extLst xmlns:a="http://schemas.openxmlformats.org/drawingml/2006/main">
              <a:ext uri="{FF2B5EF4-FFF2-40B4-BE49-F238E27FC236}">
                <a16:creationId xmlns:a16="http://schemas.microsoft.com/office/drawing/2014/main" id="{F72E568B-8F06-4D6B-9CC4-C600D8AB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0609" y="3921533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3" name="Callout 2">
            <a:extLst xmlns:a="http://schemas.openxmlformats.org/drawingml/2006/main">
              <a:ext uri="{FF2B5EF4-FFF2-40B4-BE49-F238E27FC236}">
                <a16:creationId xmlns:a16="http://schemas.microsoft.com/office/drawing/2014/main" id="{052398DE-3EF6-4FD4-8B24-08C5DF5A0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49339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E1F8BB-F8B4-456C-8B26-E63FCFFF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9339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접수 결과 확인</a:t>
            </a:r>
          </a:p>
        </p:txBody>
      </p:sp>
      <p:sp>
        <p:nvSpPr>
          <p:cNvPr id="15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95FD8E67-BBEE-404C-8F7C-B60C41A18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54864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한 번에 최대 10개 파일을 선택할 수 있습니다. 제출 후 목록의 건수와 파일 수가 증가하며 파일명·제출자·크기·시간이 표시됩니다. 파일 본문은 서버로 전송하지 않습니다.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715270-1C18-4486-9FD7-F10DFB8F8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91475"/>
            <a:ext cx="1314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브라우저 실습: 파일 본문은 전송하지 않으며 요청·제출 정보는 현재 브라우저에만 저장됩니다.</a:t>
            </a:r>
          </a:p>
        </p:txBody>
      </p:sp>
    </p:spTree>
    <p:extLst>
      <p:ext uri="{BB962C8B-B14F-4D97-AF65-F5344CB8AC3E}">
        <p14:creationId xmlns:p14="http://schemas.microsoft.com/office/powerpoint/2010/main" val="90442463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C17D5F-30B8-44FC-A822-8E4A51D2C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1C62D1-D0B0-4156-9150-B4B977F8E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81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기업 문서함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886DDC-416E-4F03-BA00-75B061001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개인 문서와 구분된 기업 공용 문서 영역입니다.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5F95C8-0B8F-4F62-80DB-9E511B563DD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e47ae0f0cf49ad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7C5AE0-602A-437C-8B5A-301DB9C5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9D3AD3-9F57-4F62-81DE-6793D4F37BC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4d5151a63549de"/>
          <a:stretch xmlns:a="http://schemas.openxmlformats.org/drawingml/2006/main"/>
        </p:blipFill>
        <p:spPr>
          <a:xfrm xmlns:a="http://schemas.openxmlformats.org/drawingml/2006/main">
            <a:off x="704850" y="2149078"/>
            <a:ext cx="9715500" cy="546496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3E44F3-23E7-4A99-867C-C817AC38C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114550"/>
            <a:ext cx="400050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D8EC"/>
            </a:solidFill>
          </a:ln>
        </p:spPr>
      </p:sp>
      <p:sp>
        <p:nvSpPr>
          <p:cNvPr id="8" name="Callout 1">
            <a:extLst xmlns:a="http://schemas.openxmlformats.org/drawingml/2006/main">
              <a:ext uri="{FF2B5EF4-FFF2-40B4-BE49-F238E27FC236}">
                <a16:creationId xmlns:a16="http://schemas.microsoft.com/office/drawing/2014/main" id="{DD483E91-3015-42ED-AF0B-C9585F63F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1712" y="2807898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Callout 1">
            <a:extLst xmlns:a="http://schemas.openxmlformats.org/drawingml/2006/main">
              <a:ext uri="{FF2B5EF4-FFF2-40B4-BE49-F238E27FC236}">
                <a16:creationId xmlns:a16="http://schemas.microsoft.com/office/drawing/2014/main" id="{773F2F7B-9F2A-4679-872F-07B94CA7B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3812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1BBFF9-EB07-41DF-92E8-C21AC86BF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3812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기업 문서 메뉴</a:t>
            </a:r>
          </a:p>
        </p:txBody>
      </p:sp>
      <p:sp>
        <p:nvSpPr>
          <p:cNvPr id="11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813AB452-D8F5-4B2B-B9A7-59C843354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29337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왼쪽 기업 문서함을 통해 회사 문서 영역으로 이동합니다. 모든 문서함과 분리된 메뉴 구조를 통해 개인 작업과 조직 단위 자료의 위치를 구분합니다.</a:t>
            </a:r>
          </a:p>
        </p:txBody>
      </p:sp>
      <p:sp>
        <p:nvSpPr>
          <p:cNvPr id="12" name="Callout 2">
            <a:extLst xmlns:a="http://schemas.openxmlformats.org/drawingml/2006/main">
              <a:ext uri="{FF2B5EF4-FFF2-40B4-BE49-F238E27FC236}">
                <a16:creationId xmlns:a16="http://schemas.microsoft.com/office/drawing/2014/main" id="{58223743-015C-4E49-AC07-33DD49AD2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1712" y="3729527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3" name="Callout 2">
            <a:extLst xmlns:a="http://schemas.openxmlformats.org/drawingml/2006/main">
              <a:ext uri="{FF2B5EF4-FFF2-40B4-BE49-F238E27FC236}">
                <a16:creationId xmlns:a16="http://schemas.microsoft.com/office/drawing/2014/main" id="{BB2EFCF1-233E-448D-A44D-F42C3A9F9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49339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629C33-FA34-4918-80FA-0759E1C8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9339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공용 문서 목록</a:t>
            </a:r>
          </a:p>
        </p:txBody>
      </p:sp>
      <p:sp>
        <p:nvSpPr>
          <p:cNvPr id="15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935053B2-EA6C-4597-AB9F-DC726FE2C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54864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이름·소유자·수정일 등 표의 열과 검색 도구를 확인합니다. 현재 기업 문서함은 비어 있으며 문서 권한·생성의 실제 처리는 이 정적 화면에서 검증되지 않았습니다.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B59A2B-C18E-4BC9-B0BB-84BC3C0CD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91475"/>
            <a:ext cx="1314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앱 화면: 예시 데이터이며 실제 업로드·삭제·설정 저장·결제는 실행되지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15645069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1301FC-E1EF-4303-80DB-D659A2203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9EBFD6-DC0F-4DEE-BFDC-E63B097CB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81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클립북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53A04A-59DD-45E0-A367-91DC91391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웹 콘텐츠를 문서로 모으는 클립북 메뉴입니다.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687EEB-9641-4481-B848-FCD1FD52B49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6eeac4745d4226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702730-0178-4C9C-AC0D-F232A22DB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F41725-623A-41B1-A595-CE00BA21C66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41bc47c4ed4998"/>
          <a:stretch xmlns:a="http://schemas.openxmlformats.org/drawingml/2006/main"/>
        </p:blipFill>
        <p:spPr>
          <a:xfrm xmlns:a="http://schemas.openxmlformats.org/drawingml/2006/main">
            <a:off x="704850" y="2147398"/>
            <a:ext cx="9715500" cy="546832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F04B3B-4A4D-483E-AAAF-A32AE5065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114550"/>
            <a:ext cx="400050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D8EC"/>
            </a:solidFill>
          </a:ln>
        </p:spPr>
      </p:sp>
      <p:sp>
        <p:nvSpPr>
          <p:cNvPr id="8" name="Callout 1">
            <a:extLst xmlns:a="http://schemas.openxmlformats.org/drawingml/2006/main">
              <a:ext uri="{FF2B5EF4-FFF2-40B4-BE49-F238E27FC236}">
                <a16:creationId xmlns:a16="http://schemas.microsoft.com/office/drawing/2014/main" id="{7D8EE5B6-5F90-4218-9571-04DD799AE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1712" y="2807898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Callout 1">
            <a:extLst xmlns:a="http://schemas.openxmlformats.org/drawingml/2006/main">
              <a:ext uri="{FF2B5EF4-FFF2-40B4-BE49-F238E27FC236}">
                <a16:creationId xmlns:a16="http://schemas.microsoft.com/office/drawing/2014/main" id="{DF5CACBC-BDAA-469D-8C65-9E58F1710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3812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B1BCD1-D964-4C15-A32D-FDFF098D6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3812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웹 정보 수집 안내</a:t>
            </a:r>
          </a:p>
        </p:txBody>
      </p:sp>
      <p:sp>
        <p:nvSpPr>
          <p:cNvPr id="11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A2050D79-CEEB-4316-9B7D-2B5766D14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29337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클립북은 프로필의 추가 기능 안내에서 웹 서핑 중 발견한 정보를 저장하는 크롬 확장 프로그램으로 설명됩니다. 앱 메뉴에서는 저장 자료를 확인하는 위치를 제공합니다.</a:t>
            </a:r>
          </a:p>
        </p:txBody>
      </p:sp>
      <p:sp>
        <p:nvSpPr>
          <p:cNvPr id="12" name="Callout 2">
            <a:extLst xmlns:a="http://schemas.openxmlformats.org/drawingml/2006/main">
              <a:ext uri="{FF2B5EF4-FFF2-40B4-BE49-F238E27FC236}">
                <a16:creationId xmlns:a16="http://schemas.microsoft.com/office/drawing/2014/main" id="{D98A0C35-7BB6-4720-A96E-398641A6F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1712" y="3729527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3" name="Callout 2">
            <a:extLst xmlns:a="http://schemas.openxmlformats.org/drawingml/2006/main">
              <a:ext uri="{FF2B5EF4-FFF2-40B4-BE49-F238E27FC236}">
                <a16:creationId xmlns:a16="http://schemas.microsoft.com/office/drawing/2014/main" id="{64C10FBC-25E1-4BA3-8284-F2ECCFCB0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49339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E7A3D5-5820-4B61-9B29-E66F5FDA4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9339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클립북 화면 확인</a:t>
            </a:r>
          </a:p>
        </p:txBody>
      </p:sp>
      <p:sp>
        <p:nvSpPr>
          <p:cNvPr id="15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D00F3B02-E58B-49B1-881B-34B4417DE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54864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왼쪽 클립북을 선택하면 해당 화면으로 이동합니다. 이 사본에는 저장된 자료와 확장 프로그램 실행 과정이 없으므로 실제 수집·문서화 동작은 포함하지 않습니다.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F5BFFB-C506-4F5D-9B1B-B735A5903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91475"/>
            <a:ext cx="1314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앱 화면: 예시 데이터이며 실제 업로드·삭제·설정 저장·결제는 실행되지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2120725789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584742-66E1-4F54-B474-EFC3C9BEE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44FF77-ECB9-4646-9E2E-FF173EEB2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81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즐겨찾기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4F5060-071D-4A4F-B24A-6CD577C4A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자주 확인할 문서를 모아 보는 메뉴입니다.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B422F8-879F-4498-99EC-079B1CB9224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2711a96eec4130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E86C9D-3C29-46EC-9964-35ABFA0D6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13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FD82A6-E735-47A6-B889-A89F26B300B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5fe7838cbb42e7"/>
          <a:stretch xmlns:a="http://schemas.openxmlformats.org/drawingml/2006/main"/>
        </p:blipFill>
        <p:spPr>
          <a:xfrm xmlns:a="http://schemas.openxmlformats.org/drawingml/2006/main">
            <a:off x="704850" y="2149078"/>
            <a:ext cx="9715500" cy="546496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663181-FA7A-4183-935D-A51B3A887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114550"/>
            <a:ext cx="400050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D8EC"/>
            </a:solidFill>
          </a:ln>
        </p:spPr>
      </p:sp>
      <p:sp>
        <p:nvSpPr>
          <p:cNvPr id="8" name="Callout 1">
            <a:extLst xmlns:a="http://schemas.openxmlformats.org/drawingml/2006/main">
              <a:ext uri="{FF2B5EF4-FFF2-40B4-BE49-F238E27FC236}">
                <a16:creationId xmlns:a16="http://schemas.microsoft.com/office/drawing/2014/main" id="{CDD18E97-4303-4E57-BB26-F98422677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1712" y="2807898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Callout 1">
            <a:extLst xmlns:a="http://schemas.openxmlformats.org/drawingml/2006/main">
              <a:ext uri="{FF2B5EF4-FFF2-40B4-BE49-F238E27FC236}">
                <a16:creationId xmlns:a16="http://schemas.microsoft.com/office/drawing/2014/main" id="{A452DAFF-6B82-4ED8-A0D3-F4EEDA5C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3812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AB59B4-D0D0-4008-A4D6-09FC13179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3812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즐겨찾기 진입</a:t>
            </a:r>
          </a:p>
        </p:txBody>
      </p:sp>
      <p:sp>
        <p:nvSpPr>
          <p:cNvPr id="11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AFA0A12D-E18E-4DD8-B8F0-F1AC4A105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29337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왼쪽 즐겨찾기 메뉴에서 중요한 문서를 별도로 살펴보는 위치를 확인합니다. 문서함에 표시된 별 모양과 즐겨찾기 메뉴의 관계를 파악합니다.</a:t>
            </a:r>
          </a:p>
        </p:txBody>
      </p:sp>
      <p:sp>
        <p:nvSpPr>
          <p:cNvPr id="12" name="Callout 2">
            <a:extLst xmlns:a="http://schemas.openxmlformats.org/drawingml/2006/main">
              <a:ext uri="{FF2B5EF4-FFF2-40B4-BE49-F238E27FC236}">
                <a16:creationId xmlns:a16="http://schemas.microsoft.com/office/drawing/2014/main" id="{63CC8993-9561-4AB5-BFE1-6DAA44D33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1712" y="3729527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3" name="Callout 2">
            <a:extLst xmlns:a="http://schemas.openxmlformats.org/drawingml/2006/main">
              <a:ext uri="{FF2B5EF4-FFF2-40B4-BE49-F238E27FC236}">
                <a16:creationId xmlns:a16="http://schemas.microsoft.com/office/drawing/2014/main" id="{7C94181B-7DC9-466D-AEE6-DF44F78B8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49339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8F9BC8-908B-46E4-9D28-A73FD2872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9339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목록과 빈 상태</a:t>
            </a:r>
          </a:p>
        </p:txBody>
      </p:sp>
      <p:sp>
        <p:nvSpPr>
          <p:cNvPr id="15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71A0C47B-9E4C-40C6-A2D3-E27BF564B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54864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이름·크기·수정일 등 표의 열을 확인합니다. 현재 즐겨찾기 항목이 없는 예시 상태이며 문서의 실제 등록·해제 결과가 저장되는 것은 아닙니다.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D74B8F-B17E-41C7-A6D9-BD8B7BF8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91475"/>
            <a:ext cx="1314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앱 화면: 예시 데이터이며 실제 업로드·삭제·설정 저장·결제는 실행되지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686787771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EA3CCB-EE1A-4BD5-9739-D0C35ECC8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04D62B-D245-4164-9854-64FDC0CF6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81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휴지통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AFEB24-CCAB-4950-80B2-34D9C66B5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삭제된 항목을 확인하는 문서 관리 화면입니다.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082B8A-71FB-4E08-977D-716187AA7A1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ab51e097ce4c71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03DAE2-4588-4DC2-85FD-221079DD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14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271F6F-A4CE-4A2F-B1CA-DF601EA57C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ebe00599c445c0"/>
          <a:stretch xmlns:a="http://schemas.openxmlformats.org/drawingml/2006/main"/>
        </p:blipFill>
        <p:spPr>
          <a:xfrm xmlns:a="http://schemas.openxmlformats.org/drawingml/2006/main">
            <a:off x="704850" y="2149078"/>
            <a:ext cx="9715500" cy="546496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71BC4E-8895-429F-A17E-736C10B81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114550"/>
            <a:ext cx="400050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D8EC"/>
            </a:solidFill>
          </a:ln>
        </p:spPr>
      </p:sp>
      <p:sp>
        <p:nvSpPr>
          <p:cNvPr id="8" name="Callout 1">
            <a:extLst xmlns:a="http://schemas.openxmlformats.org/drawingml/2006/main">
              <a:ext uri="{FF2B5EF4-FFF2-40B4-BE49-F238E27FC236}">
                <a16:creationId xmlns:a16="http://schemas.microsoft.com/office/drawing/2014/main" id="{A353FBAD-7B3E-4B3B-A9B9-38CA69B95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1712" y="2807898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Callout 1">
            <a:extLst xmlns:a="http://schemas.openxmlformats.org/drawingml/2006/main">
              <a:ext uri="{FF2B5EF4-FFF2-40B4-BE49-F238E27FC236}">
                <a16:creationId xmlns:a16="http://schemas.microsoft.com/office/drawing/2014/main" id="{B6528E21-3C69-4C2C-8818-81A203870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3812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88EAA9-F1A4-4F18-9BC7-B7AE8F213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3812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삭제 항목 목록</a:t>
            </a:r>
          </a:p>
        </p:txBody>
      </p:sp>
      <p:sp>
        <p:nvSpPr>
          <p:cNvPr id="11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B3EC7C3E-B602-478D-97E1-2D9019BBE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29337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휴지통에서는 이름·경로·크기·삭제일 등 삭제 항목을 구분하는 정보를 확인합니다. 화면 상단의 도구와 목록 열을 통해 삭제 항목 관리 위치를 파악합니다.</a:t>
            </a:r>
          </a:p>
        </p:txBody>
      </p:sp>
      <p:sp>
        <p:nvSpPr>
          <p:cNvPr id="12" name="Callout 2">
            <a:extLst xmlns:a="http://schemas.openxmlformats.org/drawingml/2006/main">
              <a:ext uri="{FF2B5EF4-FFF2-40B4-BE49-F238E27FC236}">
                <a16:creationId xmlns:a16="http://schemas.microsoft.com/office/drawing/2014/main" id="{76643013-D9C7-451B-A4D2-64531BD05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1712" y="3729527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3" name="Callout 2">
            <a:extLst xmlns:a="http://schemas.openxmlformats.org/drawingml/2006/main">
              <a:ext uri="{FF2B5EF4-FFF2-40B4-BE49-F238E27FC236}">
                <a16:creationId xmlns:a16="http://schemas.microsoft.com/office/drawing/2014/main" id="{8680BF87-FD84-44DC-A02E-A01C8C5AA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49339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2294B4-5F66-41C8-A61E-DEB08724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9339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현재 상태 확인</a:t>
            </a:r>
          </a:p>
        </p:txBody>
      </p:sp>
      <p:sp>
        <p:nvSpPr>
          <p:cNvPr id="15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0D6D730D-0888-4977-8E66-CD4F2CC53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54864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현재 휴지통은 비어 있습니다. 실제 삭제·복구·영구 삭제는 실행되지 않으므로 이 화면을 보고 데이터 복구가 검증됐다고 판단하지 않습니다.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A9B932-596B-4F65-BDD0-D6B85543C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91475"/>
            <a:ext cx="1314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앱 화면: 예시 데이터이며 실제 업로드·삭제·설정 저장·결제는 실행되지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39060238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1F692A-1CFB-492F-AB3F-9D881BD03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591CB6-9728-471B-AD00-FC96D43D1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81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프로필과 계정 보안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2E432C-61C8-4A93-9CC1-D08F0073D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사용자 정보·알림·언어와 로그인 관련 항목을 확인합니다.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8160D0-A695-406B-B9E5-C72D16AF6F6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31ba6e918c4229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6FF879-B383-4AE5-A343-A1FD47780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15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51F583-059B-4DD3-A949-3E85D0310B6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e7573dbab74541"/>
          <a:stretch xmlns:a="http://schemas.openxmlformats.org/drawingml/2006/main"/>
        </p:blipFill>
        <p:spPr>
          <a:xfrm xmlns:a="http://schemas.openxmlformats.org/drawingml/2006/main">
            <a:off x="704850" y="2147398"/>
            <a:ext cx="9715500" cy="546832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8CE557-1AB9-4D24-9E09-2BA6282E5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114550"/>
            <a:ext cx="400050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D8EC"/>
            </a:solidFill>
          </a:ln>
        </p:spPr>
      </p:sp>
      <p:sp>
        <p:nvSpPr>
          <p:cNvPr id="8" name="Callout 1">
            <a:extLst xmlns:a="http://schemas.openxmlformats.org/drawingml/2006/main">
              <a:ext uri="{FF2B5EF4-FFF2-40B4-BE49-F238E27FC236}">
                <a16:creationId xmlns:a16="http://schemas.microsoft.com/office/drawing/2014/main" id="{D4F205C5-0608-4816-9E46-BC230231F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1712" y="3076707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Callout 1">
            <a:extLst xmlns:a="http://schemas.openxmlformats.org/drawingml/2006/main">
              <a:ext uri="{FF2B5EF4-FFF2-40B4-BE49-F238E27FC236}">
                <a16:creationId xmlns:a16="http://schemas.microsoft.com/office/drawing/2014/main" id="{A110BB07-E233-4CB7-A00E-261D3D35A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3812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622345-10C9-4B82-986B-7E55CDABA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3812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개인 정보와 알림</a:t>
            </a:r>
          </a:p>
        </p:txBody>
      </p:sp>
      <p:sp>
        <p:nvSpPr>
          <p:cNvPr id="11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F1C1EBEC-58F1-4E14-AD51-7A09F0AC3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29337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이름·이메일, 알림받기, 사용 언어, 추천인 링크 등의 항목을 확인합니다. 화면에는 예시 계정이 표시되며 실제 개인정보나 계정 변경을 수행하지 않습니다.</a:t>
            </a:r>
          </a:p>
        </p:txBody>
      </p:sp>
      <p:sp>
        <p:nvSpPr>
          <p:cNvPr id="12" name="Callout 2">
            <a:extLst xmlns:a="http://schemas.openxmlformats.org/drawingml/2006/main">
              <a:ext uri="{FF2B5EF4-FFF2-40B4-BE49-F238E27FC236}">
                <a16:creationId xmlns:a16="http://schemas.microsoft.com/office/drawing/2014/main" id="{AEB08DE6-31D9-4285-86C5-8D105299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2992" y="3076707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3" name="Callout 2">
            <a:extLst xmlns:a="http://schemas.openxmlformats.org/drawingml/2006/main">
              <a:ext uri="{FF2B5EF4-FFF2-40B4-BE49-F238E27FC236}">
                <a16:creationId xmlns:a16="http://schemas.microsoft.com/office/drawing/2014/main" id="{D9C15F96-7118-43AA-8803-078AB6413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49339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278E21-C0C6-45BC-A650-B7E4E8732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9339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로그인 및 기기 설정</a:t>
            </a:r>
          </a:p>
        </p:txBody>
      </p:sp>
      <p:sp>
        <p:nvSpPr>
          <p:cNvPr id="15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6A56D77B-3C41-431D-A453-6342B8F75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54864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계정 보안 영역에서 로그인 허용 이메일 추가 등 보안 설정의 위치를 확인합니다. 프로필의 완료·탈퇴 등은 실제 계정 작업으로 연결되지 않습니다.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818890-FDA2-45C1-9090-99C1D0ECF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91475"/>
            <a:ext cx="1314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앱 화면: 예시 데이터이며 실제 업로드·삭제·설정 저장·결제는 실행되지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858794506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4877FE-EDA9-4B3D-886B-DAD15CF05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AECA6F-CF8D-45A7-A510-EEF406364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81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PC 연동과 클다스트림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285F25-8196-475B-A31E-F9E689C76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프로필의 추가 기능에서 PC 프로그램과 클립북 안내를 살펴봅니다.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C4AD33-7FBE-4EB5-B5B7-5481C2B0299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6e0a0353ee4605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820FF8-0986-498D-9AE1-76BA5165B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16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011093-A686-4913-9DFA-8E77453E947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0d4b7d4b0843c6"/>
          <a:stretch xmlns:a="http://schemas.openxmlformats.org/drawingml/2006/main"/>
        </p:blipFill>
        <p:spPr>
          <a:xfrm xmlns:a="http://schemas.openxmlformats.org/drawingml/2006/main">
            <a:off x="704850" y="2147398"/>
            <a:ext cx="9715500" cy="546832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3DCE1C-9D73-498B-B77A-27DAE9C2F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114550"/>
            <a:ext cx="400050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D8EC"/>
            </a:solidFill>
          </a:ln>
        </p:spPr>
      </p:sp>
      <p:sp>
        <p:nvSpPr>
          <p:cNvPr id="8" name="Callout 1">
            <a:extLst xmlns:a="http://schemas.openxmlformats.org/drawingml/2006/main">
              <a:ext uri="{FF2B5EF4-FFF2-40B4-BE49-F238E27FC236}">
                <a16:creationId xmlns:a16="http://schemas.microsoft.com/office/drawing/2014/main" id="{30FBAACE-C5CD-4243-A4D1-9BCFC6A01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5058" y="3076707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Callout 1">
            <a:extLst xmlns:a="http://schemas.openxmlformats.org/drawingml/2006/main">
              <a:ext uri="{FF2B5EF4-FFF2-40B4-BE49-F238E27FC236}">
                <a16:creationId xmlns:a16="http://schemas.microsoft.com/office/drawing/2014/main" id="{2C9A9D90-EFC4-43BF-98F9-A8D34CCFF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3812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5101B1-A171-4E95-8A21-BEB85E087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3812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PC 프로그램 선택</a:t>
            </a:r>
          </a:p>
        </p:txBody>
      </p:sp>
      <p:sp>
        <p:nvSpPr>
          <p:cNvPr id="11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30D7A4C4-44B1-47D7-BDFB-5095B252F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29337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PC클라이언트와 클다스트림 선택 상태에 따른 화면을 확인합니다. 앱에는 두 프로그램을 동시에 사용하면 파일이 손상될 수 있어 하나를 선택하라는 안내가 표시됩니다.</a:t>
            </a:r>
          </a:p>
        </p:txBody>
      </p:sp>
      <p:sp>
        <p:nvSpPr>
          <p:cNvPr id="12" name="Callout 2">
            <a:extLst xmlns:a="http://schemas.openxmlformats.org/drawingml/2006/main">
              <a:ext uri="{FF2B5EF4-FFF2-40B4-BE49-F238E27FC236}">
                <a16:creationId xmlns:a16="http://schemas.microsoft.com/office/drawing/2014/main" id="{1D000CAC-CCAC-430A-9166-D0B9D8F58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5058" y="4612754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3" name="Callout 2">
            <a:extLst xmlns:a="http://schemas.openxmlformats.org/drawingml/2006/main">
              <a:ext uri="{FF2B5EF4-FFF2-40B4-BE49-F238E27FC236}">
                <a16:creationId xmlns:a16="http://schemas.microsoft.com/office/drawing/2014/main" id="{7B6DE8B6-3F76-4220-BDDF-01E6B4232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49339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AA059B-62FB-4F01-8C19-EE57DBFBD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9339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다운로드와 추가 도구</a:t>
            </a:r>
          </a:p>
        </p:txBody>
      </p:sp>
      <p:sp>
        <p:nvSpPr>
          <p:cNvPr id="15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F26CA7E7-6495-44FD-8064-F31EF1419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54864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클다스트림 다운로드·비밀번호 변경 버튼과 클립북 안내의 위치를 확인합니다. 이 소개서는 화면에 보이는 안내를 설명하며 설치·비밀번호 변경은 실행하지 않습니다.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E06C58-7956-4F9D-8A23-032319761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91475"/>
            <a:ext cx="1314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앱 화면: 예시 데이터이며 실제 업로드·삭제·설정 저장·결제는 실행되지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80678134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02403F-CA3E-4709-A280-DA7782877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2C66CD-EA48-48BF-9D40-8D1EB7DA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81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기업 설정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6532E7-78BB-4516-B389-5D15F4B1C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기업 정보·공지·알림과 관리자 설정을 확인합니다.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0FC063-10B5-4CC2-BBC8-B7E4A39C4C8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d1cdf12b4741e4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319AFD-AE5C-4D05-BA2E-607076DB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17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5423C9-5DA2-4577-9EFB-041773F9E06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2780de23544164"/>
          <a:stretch xmlns:a="http://schemas.openxmlformats.org/drawingml/2006/main"/>
        </p:blipFill>
        <p:spPr>
          <a:xfrm xmlns:a="http://schemas.openxmlformats.org/drawingml/2006/main">
            <a:off x="704850" y="2147398"/>
            <a:ext cx="9715500" cy="546832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FE7E45-22A7-405F-8BC0-3AE3E5522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114550"/>
            <a:ext cx="400050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D8EC"/>
            </a:solidFill>
          </a:ln>
        </p:spPr>
      </p:sp>
      <p:sp>
        <p:nvSpPr>
          <p:cNvPr id="8" name="Callout 1">
            <a:extLst xmlns:a="http://schemas.openxmlformats.org/drawingml/2006/main">
              <a:ext uri="{FF2B5EF4-FFF2-40B4-BE49-F238E27FC236}">
                <a16:creationId xmlns:a16="http://schemas.microsoft.com/office/drawing/2014/main" id="{6C85CADF-0F05-4388-8CF3-37D1E65A6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3310" y="2923102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Callout 1">
            <a:extLst xmlns:a="http://schemas.openxmlformats.org/drawingml/2006/main">
              <a:ext uri="{FF2B5EF4-FFF2-40B4-BE49-F238E27FC236}">
                <a16:creationId xmlns:a16="http://schemas.microsoft.com/office/drawing/2014/main" id="{99FD8292-CB71-4FB3-8B31-51B7192D1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3812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D756B3-C9EA-4D20-B6FB-7DB66937B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3812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기업 정보와 공지</a:t>
            </a:r>
          </a:p>
        </p:txBody>
      </p:sp>
      <p:sp>
        <p:nvSpPr>
          <p:cNvPr id="11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EA00328C-24AE-42DA-A2AD-AA7F5FF6B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29337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기업명·도메인·로고, 공지 및 서비스 이용 동의, 트래픽 알림 항목을 확인합니다. 기업 도메인과 로고는 예시이며 실제 변경 저장은 수행되지 않습니다.</a:t>
            </a:r>
          </a:p>
        </p:txBody>
      </p:sp>
      <p:sp>
        <p:nvSpPr>
          <p:cNvPr id="12" name="Callout 2">
            <a:extLst xmlns:a="http://schemas.openxmlformats.org/drawingml/2006/main">
              <a:ext uri="{FF2B5EF4-FFF2-40B4-BE49-F238E27FC236}">
                <a16:creationId xmlns:a16="http://schemas.microsoft.com/office/drawing/2014/main" id="{5D65A875-9964-448A-9B96-F55947CBD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3310" y="5534383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3" name="Callout 2">
            <a:extLst xmlns:a="http://schemas.openxmlformats.org/drawingml/2006/main">
              <a:ext uri="{FF2B5EF4-FFF2-40B4-BE49-F238E27FC236}">
                <a16:creationId xmlns:a16="http://schemas.microsoft.com/office/drawing/2014/main" id="{E6C61FE7-7C7F-47D9-BA73-37E6361C0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49339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545AA1-AE7A-46E0-885B-A97BA198D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9339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기업 결재와 보안</a:t>
            </a:r>
          </a:p>
        </p:txBody>
      </p:sp>
      <p:sp>
        <p:nvSpPr>
          <p:cNvPr id="15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EA19EE6A-ED87-467E-B7DF-A43B29C3F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54864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결재 사용과 양식 관리, 계정 보안 항목의 위치를 확인합니다. 전자결재는 화면에 PROFESSIONAL 조건이 표시되며 Trial에서는 본문을 확인할 수 없습니다.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05060F-DBC5-4B91-B83D-AC77A6FD9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91475"/>
            <a:ext cx="1314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앱 화면: 예시 데이터이며 실제 업로드·삭제·설정 저장·결제는 실행되지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35898087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13FB39-DED3-407B-914F-161E230CF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42F255-3721-4BBA-8A65-4BA235A3F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81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기업 보안 정책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D81735-7D84-48EE-854B-336A98606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접속·공유·문서 생성에 관한 기업 단위 설정 항목입니다.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0BF00E-CDF4-4E73-AF31-8F9B8C55087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9da032defe43ca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4567C8-44A0-4F3A-AD32-783EA5D78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18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B0298D-A970-4649-A7F4-343732A8486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f8b8013f094910"/>
          <a:stretch xmlns:a="http://schemas.openxmlformats.org/drawingml/2006/main"/>
        </p:blipFill>
        <p:spPr>
          <a:xfrm xmlns:a="http://schemas.openxmlformats.org/drawingml/2006/main">
            <a:off x="704850" y="2147398"/>
            <a:ext cx="9715500" cy="546832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930D83-8738-4E63-89FF-DE780A8DC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114550"/>
            <a:ext cx="400050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D8EC"/>
            </a:solidFill>
          </a:ln>
        </p:spPr>
      </p:sp>
      <p:sp>
        <p:nvSpPr>
          <p:cNvPr id="8" name="Callout 1">
            <a:extLst xmlns:a="http://schemas.openxmlformats.org/drawingml/2006/main">
              <a:ext uri="{FF2B5EF4-FFF2-40B4-BE49-F238E27FC236}">
                <a16:creationId xmlns:a16="http://schemas.microsoft.com/office/drawing/2014/main" id="{8C3CA33F-149D-48BF-A3E8-A7B813D89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627" y="2615893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Callout 1">
            <a:extLst xmlns:a="http://schemas.openxmlformats.org/drawingml/2006/main">
              <a:ext uri="{FF2B5EF4-FFF2-40B4-BE49-F238E27FC236}">
                <a16:creationId xmlns:a16="http://schemas.microsoft.com/office/drawing/2014/main" id="{D41DF4B2-C240-4763-BAC7-CDE946D6D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3812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B85120-E886-4F4E-8952-9EE02B0A4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3812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로그인과 사용자 용량</a:t>
            </a:r>
          </a:p>
        </p:txBody>
      </p:sp>
      <p:sp>
        <p:nvSpPr>
          <p:cNvPr id="11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BD13AA60-3437-4498-9F87-624D58A65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29337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로그인 방식, 자동 로그아웃, 비밀번호 유효기간·재사용, 신규 사용자 기본 저장 용량 항목을 살펴봅니다. 실제 보안 정책 적용 여부는 이 사본에서 확인되지 않습니다.</a:t>
            </a:r>
          </a:p>
        </p:txBody>
      </p:sp>
      <p:sp>
        <p:nvSpPr>
          <p:cNvPr id="12" name="Callout 2">
            <a:extLst xmlns:a="http://schemas.openxmlformats.org/drawingml/2006/main">
              <a:ext uri="{FF2B5EF4-FFF2-40B4-BE49-F238E27FC236}">
                <a16:creationId xmlns:a16="http://schemas.microsoft.com/office/drawing/2014/main" id="{93EB5303-28D8-4565-B1DF-D2897B350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627" y="4919964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3" name="Callout 2">
            <a:extLst xmlns:a="http://schemas.openxmlformats.org/drawingml/2006/main">
              <a:ext uri="{FF2B5EF4-FFF2-40B4-BE49-F238E27FC236}">
                <a16:creationId xmlns:a16="http://schemas.microsoft.com/office/drawing/2014/main" id="{12AA88B2-7EA9-4438-B4C2-2D95DCF45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49339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4272FB-3583-49ED-92B4-DE68F1C8D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9339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접근과 공유 허용</a:t>
            </a:r>
          </a:p>
        </p:txBody>
      </p:sp>
      <p:sp>
        <p:nvSpPr>
          <p:cNvPr id="15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BDE9A830-4001-4D7D-8138-91AAAB56D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54864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관리자만 폴더 생성, 다운로드·업로드 링크 공유, 기업 문서 생성, 모바일 앱 사용, 기업 IP 제한의 표시 상태를 확인합니다. 스위치 표시는 실제 서비스 권한 변경을 뜻하지 않습니다.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B492B0-1DC7-4735-A533-76A9ABBEA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91475"/>
            <a:ext cx="1314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앱 화면: 예시 데이터이며 실제 업로드·삭제·설정 저장·결제는 실행되지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112603442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F6A3D1-EF5F-464C-A05F-32B3983DB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E1160B-01AE-48CA-A5D6-D93B56BF5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81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전자결재 양식 관리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FEB9A8-1453-4073-969B-02A310DB3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기본 제공 양식과 이용 조건을 확인합니다.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30E257-6DF7-4A75-9126-EE83E032EBC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f854477b744c85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5B6432-BAF3-4B56-AA72-7F3DFC95A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19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5EE453-2EF1-460A-A632-DC0EC89FCCF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457edb2bbe4cc9"/>
          <a:stretch xmlns:a="http://schemas.openxmlformats.org/drawingml/2006/main"/>
        </p:blipFill>
        <p:spPr>
          <a:xfrm xmlns:a="http://schemas.openxmlformats.org/drawingml/2006/main">
            <a:off x="704850" y="2149078"/>
            <a:ext cx="9715500" cy="546496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289F58-AD74-485C-812D-13120A051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114550"/>
            <a:ext cx="400050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D8EC"/>
            </a:solidFill>
          </a:ln>
        </p:spPr>
      </p:sp>
      <p:sp>
        <p:nvSpPr>
          <p:cNvPr id="8" name="Callout 1">
            <a:extLst xmlns:a="http://schemas.openxmlformats.org/drawingml/2006/main">
              <a:ext uri="{FF2B5EF4-FFF2-40B4-BE49-F238E27FC236}">
                <a16:creationId xmlns:a16="http://schemas.microsoft.com/office/drawing/2014/main" id="{C167BC8B-862E-4C7D-B65E-FB98E3194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9735" y="3115108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Callout 1">
            <a:extLst xmlns:a="http://schemas.openxmlformats.org/drawingml/2006/main">
              <a:ext uri="{FF2B5EF4-FFF2-40B4-BE49-F238E27FC236}">
                <a16:creationId xmlns:a16="http://schemas.microsoft.com/office/drawing/2014/main" id="{16959C0B-1979-4D38-B34B-094A7220D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3812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980B68-55BF-433B-A83A-DBE871D93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3812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기본 제공 양식</a:t>
            </a:r>
          </a:p>
        </p:txBody>
      </p:sp>
      <p:sp>
        <p:nvSpPr>
          <p:cNvPr id="11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7E307BCE-A682-4817-BB97-5DBED7F9F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29337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지출 결의서·일반 결재·휴가 신청서 등 기본 양식과 버전 정보가 표시됩니다. 목록을 스크롤하면 다른 양식과 사용 조건도 확인할 수 있습니다.</a:t>
            </a:r>
          </a:p>
        </p:txBody>
      </p:sp>
      <p:sp>
        <p:nvSpPr>
          <p:cNvPr id="12" name="Callout 2">
            <a:extLst xmlns:a="http://schemas.openxmlformats.org/drawingml/2006/main">
              <a:ext uri="{FF2B5EF4-FFF2-40B4-BE49-F238E27FC236}">
                <a16:creationId xmlns:a16="http://schemas.microsoft.com/office/drawing/2014/main" id="{A04CBDEB-B2F1-4AE9-83A2-7E093B740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9735" y="4919964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3" name="Callout 2">
            <a:extLst xmlns:a="http://schemas.openxmlformats.org/drawingml/2006/main">
              <a:ext uri="{FF2B5EF4-FFF2-40B4-BE49-F238E27FC236}">
                <a16:creationId xmlns:a16="http://schemas.microsoft.com/office/drawing/2014/main" id="{4C351E0B-5955-454A-97F4-D6D7BB4C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49339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90DC4E-00B2-4189-A995-308889356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9339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이용 조건과 제한</a:t>
            </a:r>
          </a:p>
        </p:txBody>
      </p:sp>
      <p:sp>
        <p:nvSpPr>
          <p:cNvPr id="15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4FB695AA-9514-4AC6-A395-EF238698B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54864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현재 양식 사용 선택은 비활성 상태이며 기업에서 사용 여부와 새 결재 사용 가능 안내가 표시됩니다. 결재 작성·상신·승인은 이 앱 사본에서 검증되지 않았습니다.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00F977-50E3-4248-80DF-4E5BE8A74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91475"/>
            <a:ext cx="1314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앱 화면: 예시 데이터이며 실제 업로드·삭제·설정 저장·결제는 실행되지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2100626395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323E4A-B98E-4243-B14A-103F77F4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F256B4-B47D-4BD7-96A8-3DD641CD2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81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팀원 관리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41A243-F21F-4CBA-AA57-69E546459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팀원의 계정·용량·역할·상태를 한곳에서 봅니다.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31EEF2-3207-43C6-BB0D-6856F2249EF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bee4ccb35843a2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AFE26E-AE76-4E3D-89FC-649111D76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20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2AF99C-306E-4535-86B0-A3BF31E55BF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f8d2a5d7ec4d3d"/>
          <a:stretch xmlns:a="http://schemas.openxmlformats.org/drawingml/2006/main"/>
        </p:blipFill>
        <p:spPr>
          <a:xfrm xmlns:a="http://schemas.openxmlformats.org/drawingml/2006/main">
            <a:off x="704850" y="2149078"/>
            <a:ext cx="9715500" cy="546496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F6DA2E-3D3A-41FC-BD41-5B01C9F0C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114550"/>
            <a:ext cx="400050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D8EC"/>
            </a:solidFill>
          </a:ln>
        </p:spPr>
      </p:sp>
      <p:sp>
        <p:nvSpPr>
          <p:cNvPr id="8" name="Callout 1">
            <a:extLst xmlns:a="http://schemas.openxmlformats.org/drawingml/2006/main">
              <a:ext uri="{FF2B5EF4-FFF2-40B4-BE49-F238E27FC236}">
                <a16:creationId xmlns:a16="http://schemas.microsoft.com/office/drawing/2014/main" id="{75AE5B4F-4A7E-485F-963E-68F68B3AD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3310" y="3307114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Callout 1">
            <a:extLst xmlns:a="http://schemas.openxmlformats.org/drawingml/2006/main">
              <a:ext uri="{FF2B5EF4-FFF2-40B4-BE49-F238E27FC236}">
                <a16:creationId xmlns:a16="http://schemas.microsoft.com/office/drawing/2014/main" id="{2A3CCA1F-1034-4212-BBD0-A879FBE44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3812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AB9911-9A8C-4B61-AE06-89287A6C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3812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팀원 목록과 검색</a:t>
            </a:r>
          </a:p>
        </p:txBody>
      </p:sp>
      <p:sp>
        <p:nvSpPr>
          <p:cNvPr id="11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07303E4E-F0D8-461A-9C71-B79398BD1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29337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사용자 검색과 이름·용량·역할·상태·최근 로그인·세부권한 열을 확인합니다. 다운로드·프린트·PC클라이언트·모바일 앱·IP 제한과 같은 권한 항목이 표시됩니다.</a:t>
            </a:r>
          </a:p>
        </p:txBody>
      </p:sp>
      <p:sp>
        <p:nvSpPr>
          <p:cNvPr id="12" name="Callout 2">
            <a:extLst xmlns:a="http://schemas.openxmlformats.org/drawingml/2006/main">
              <a:ext uri="{FF2B5EF4-FFF2-40B4-BE49-F238E27FC236}">
                <a16:creationId xmlns:a16="http://schemas.microsoft.com/office/drawing/2014/main" id="{9B7CC078-6A7E-4C6C-84E7-7F8D1CAB6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3310" y="28463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3" name="Callout 2">
            <a:extLst xmlns:a="http://schemas.openxmlformats.org/drawingml/2006/main">
              <a:ext uri="{FF2B5EF4-FFF2-40B4-BE49-F238E27FC236}">
                <a16:creationId xmlns:a16="http://schemas.microsoft.com/office/drawing/2014/main" id="{A86254B2-D604-4142-9E4A-DF2FBC7BA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49339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742B0F-8E21-4D43-B57A-65A06EAEF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9339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생성·초대 메뉴</a:t>
            </a:r>
          </a:p>
        </p:txBody>
      </p:sp>
      <p:sp>
        <p:nvSpPr>
          <p:cNvPr id="15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5FCC463A-C59E-45ED-B8F5-746EA30BA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54864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파일에서 사용자 업로드, 팀원 생성, 팀원 초대의 진입 도구를 확인합니다. 실습용 사본에서는 실제 계정 생성이나 초대 메일 발송을 수행하지 않습니다.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462437-F23F-4126-A074-B48357174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91475"/>
            <a:ext cx="1314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앱 화면: 예시 데이터이며 실제 업로드·삭제·설정 저장·결제는 실행되지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2017928845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438AF9-D768-4073-9177-58284B32E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F7D66F-630B-4948-9D0C-289E967BD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81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그룹 관리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976C79-59A2-49F0-8480-54257703D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사용자를 그룹 단위로 구분하는 관리 화면입니다.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9E8D9F-4CF4-49A9-8589-6825483D645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cbd678fb704b0c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9A2991-9500-4B1C-9BFE-37F6DD1EA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21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59161C-2A92-4A37-AA8C-15CDA74C789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ecc6a8ffd04076"/>
          <a:stretch xmlns:a="http://schemas.openxmlformats.org/drawingml/2006/main"/>
        </p:blipFill>
        <p:spPr>
          <a:xfrm xmlns:a="http://schemas.openxmlformats.org/drawingml/2006/main">
            <a:off x="704850" y="2149078"/>
            <a:ext cx="9715500" cy="546496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70710B-95CA-4D6A-946C-3ACBF32EF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114550"/>
            <a:ext cx="400050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D8EC"/>
            </a:solidFill>
          </a:ln>
        </p:spPr>
      </p:sp>
      <p:sp>
        <p:nvSpPr>
          <p:cNvPr id="8" name="Callout 1">
            <a:extLst xmlns:a="http://schemas.openxmlformats.org/drawingml/2006/main">
              <a:ext uri="{FF2B5EF4-FFF2-40B4-BE49-F238E27FC236}">
                <a16:creationId xmlns:a16="http://schemas.microsoft.com/office/drawing/2014/main" id="{DF84D01F-EA5C-4EA4-8CCC-68BCB5ECB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1712" y="2807898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Callout 1">
            <a:extLst xmlns:a="http://schemas.openxmlformats.org/drawingml/2006/main">
              <a:ext uri="{FF2B5EF4-FFF2-40B4-BE49-F238E27FC236}">
                <a16:creationId xmlns:a16="http://schemas.microsoft.com/office/drawing/2014/main" id="{2F591AC8-1644-412B-BAF8-FBF9B2449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3812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D31437-908C-43E8-8C17-FDAB965EF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3812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그룹 생성과 검색</a:t>
            </a:r>
          </a:p>
        </p:txBody>
      </p:sp>
      <p:sp>
        <p:nvSpPr>
          <p:cNvPr id="11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5890E681-EB2E-4DDD-82AB-016220116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29337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팀원 관리의 그룹 탭에서 새 그룹과 그룹 검색 도구를 확인합니다. 현재는 0 그룹 상태이며 그룹을 구분하는 화면 구조를 제공합니다.</a:t>
            </a:r>
          </a:p>
        </p:txBody>
      </p:sp>
      <p:sp>
        <p:nvSpPr>
          <p:cNvPr id="12" name="Callout 2">
            <a:extLst xmlns:a="http://schemas.openxmlformats.org/drawingml/2006/main">
              <a:ext uri="{FF2B5EF4-FFF2-40B4-BE49-F238E27FC236}">
                <a16:creationId xmlns:a16="http://schemas.microsoft.com/office/drawing/2014/main" id="{D174D490-09BD-4314-82D5-8C704C051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1712" y="3729527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3" name="Callout 2">
            <a:extLst xmlns:a="http://schemas.openxmlformats.org/drawingml/2006/main">
              <a:ext uri="{FF2B5EF4-FFF2-40B4-BE49-F238E27FC236}">
                <a16:creationId xmlns:a16="http://schemas.microsoft.com/office/drawing/2014/main" id="{47D35EED-F3CB-4A2F-89FE-556831666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49339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F8A745-7D8E-4D6C-972D-0C23999C4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9339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구성원과 세부권한</a:t>
            </a:r>
          </a:p>
        </p:txBody>
      </p:sp>
      <p:sp>
        <p:nvSpPr>
          <p:cNvPr id="15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32D4B219-32D7-41D5-A90F-4713DC45B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54864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이름·사용자들·세부권한 열을 통해 그룹별 구성과 권한을 확인하는 위치를 파악합니다. 이 사본에서 실제 그룹 생성이나 권한 저장은 검증되지 않았습니다.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B1B967-B679-44A2-8874-9FBB69BD2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91475"/>
            <a:ext cx="1314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앱 화면: 예시 데이터이며 실제 업로드·삭제·설정 저장·결제는 실행되지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754524122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0CF7B8-5DD0-4A76-9C67-2DD2C1F4D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01CFDA-251F-4BF1-AD26-E1245C253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81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조직도 관리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CF55C0-45CF-4AEB-B775-0E0C26FF6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조직 경로와 소속 구성원을 확인하는 관리 화면입니다.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5208F9-37EB-4649-995F-E6124142710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9811c6eba84e90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1C982E-AE25-4C3E-9CBA-481BAEFE3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22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18AFFC-790E-47FA-AA72-6448624F4AE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17cfb66387427c"/>
          <a:stretch xmlns:a="http://schemas.openxmlformats.org/drawingml/2006/main"/>
        </p:blipFill>
        <p:spPr>
          <a:xfrm xmlns:a="http://schemas.openxmlformats.org/drawingml/2006/main">
            <a:off x="704850" y="2149078"/>
            <a:ext cx="9715500" cy="546496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C7EA6B-7528-407A-B755-0FFD4EBAB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114550"/>
            <a:ext cx="400050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D8EC"/>
            </a:solidFill>
          </a:ln>
        </p:spPr>
      </p:sp>
      <p:sp>
        <p:nvSpPr>
          <p:cNvPr id="8" name="Callout 1">
            <a:extLst xmlns:a="http://schemas.openxmlformats.org/drawingml/2006/main">
              <a:ext uri="{FF2B5EF4-FFF2-40B4-BE49-F238E27FC236}">
                <a16:creationId xmlns:a16="http://schemas.microsoft.com/office/drawing/2014/main" id="{7E93426D-A90B-4628-87B9-BD26F06CE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1712" y="2807898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Callout 1">
            <a:extLst xmlns:a="http://schemas.openxmlformats.org/drawingml/2006/main">
              <a:ext uri="{FF2B5EF4-FFF2-40B4-BE49-F238E27FC236}">
                <a16:creationId xmlns:a16="http://schemas.microsoft.com/office/drawing/2014/main" id="{345B9654-436B-4BBB-9F61-9E12D4A22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3812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FB5A60-0F8A-4E7C-8F75-5273DDF4D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3812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조직 생성과 검색</a:t>
            </a:r>
          </a:p>
        </p:txBody>
      </p:sp>
      <p:sp>
        <p:nvSpPr>
          <p:cNvPr id="11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325DAE22-DD67-4134-BB10-8E283E704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29337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조직도 탭에서 조직 생성·조직 검색 도구를 확인합니다. 현재는 조직이 없는 상태이며 실제 조직 데이터는 연결되어 있지 않습니다.</a:t>
            </a:r>
          </a:p>
        </p:txBody>
      </p:sp>
      <p:sp>
        <p:nvSpPr>
          <p:cNvPr id="12" name="Callout 2">
            <a:extLst xmlns:a="http://schemas.openxmlformats.org/drawingml/2006/main">
              <a:ext uri="{FF2B5EF4-FFF2-40B4-BE49-F238E27FC236}">
                <a16:creationId xmlns:a16="http://schemas.microsoft.com/office/drawing/2014/main" id="{1B409923-66B6-48EA-A919-078A2277B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1712" y="3729527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3" name="Callout 2">
            <a:extLst xmlns:a="http://schemas.openxmlformats.org/drawingml/2006/main">
              <a:ext uri="{FF2B5EF4-FFF2-40B4-BE49-F238E27FC236}">
                <a16:creationId xmlns:a16="http://schemas.microsoft.com/office/drawing/2014/main" id="{B355B9A9-791A-4E2D-9B18-5DCF0EA85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49339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54093B-279A-4C23-8234-77881A113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9339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조직 계층 정보</a:t>
            </a:r>
          </a:p>
        </p:txBody>
      </p:sp>
      <p:sp>
        <p:nvSpPr>
          <p:cNvPr id="15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EF64E924-F678-43C4-A10B-E51BF8FA0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54864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이름·상위 조직 경로·직접 소속 구성원 열을 확인합니다. 조직별 계층과 소속 인원을 구분하기 위한 화면이며 실제 조직 변경은 저장되지 않습니다.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018038-D0FD-46D6-AE41-E5C22F73B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91475"/>
            <a:ext cx="1314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앱 화면: 예시 데이터이며 실제 업로드·삭제·설정 저장·결제는 실행되지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448328332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195062-2E05-44C1-9458-9BA220515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E9398D-B44E-4259-8F8D-9C194882F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81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백업 관리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2347A4-F206-4116-8CB6-9C4F80E1D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백업 용량과 진행 중인 백업 목록을 살펴봅니다.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655702-5E94-4B76-8CF8-C969D6EAF35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c0ac5a5d6845e6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052A4E-C0D6-465B-9213-FDC161E38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23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26B819-881E-432F-BF3A-2174A6A0BF8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9ceacd93e24df4"/>
          <a:stretch xmlns:a="http://schemas.openxmlformats.org/drawingml/2006/main"/>
        </p:blipFill>
        <p:spPr>
          <a:xfrm xmlns:a="http://schemas.openxmlformats.org/drawingml/2006/main">
            <a:off x="704850" y="2149078"/>
            <a:ext cx="9715500" cy="546496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0B857A-2019-49BD-A590-523156072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114550"/>
            <a:ext cx="400050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D8EC"/>
            </a:solidFill>
          </a:ln>
        </p:spPr>
      </p:sp>
      <p:sp>
        <p:nvSpPr>
          <p:cNvPr id="8" name="Callout 1">
            <a:extLst xmlns:a="http://schemas.openxmlformats.org/drawingml/2006/main">
              <a:ext uri="{FF2B5EF4-FFF2-40B4-BE49-F238E27FC236}">
                <a16:creationId xmlns:a16="http://schemas.microsoft.com/office/drawing/2014/main" id="{D152C874-3685-4DE2-84FE-5779E5B38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3310" y="2807898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Callout 1">
            <a:extLst xmlns:a="http://schemas.openxmlformats.org/drawingml/2006/main">
              <a:ext uri="{FF2B5EF4-FFF2-40B4-BE49-F238E27FC236}">
                <a16:creationId xmlns:a16="http://schemas.microsoft.com/office/drawing/2014/main" id="{31011156-AB96-43E0-AD9D-791510D4C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3812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1305BE-52C5-44CF-9818-88CF0DE1D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3812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용량과 백업 구분</a:t>
            </a:r>
          </a:p>
        </p:txBody>
      </p:sp>
      <p:sp>
        <p:nvSpPr>
          <p:cNvPr id="11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63B79252-9DC6-4D13-AC93-5AACE2842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29337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백업·아카이브 사용량과 사용 가능한 용량을 구분합니다. 화면 수치는 실습용 예시입니다. 용량 현황과 별도 부가 서비스 안내의 위치를 함께 확인합니다.</a:t>
            </a:r>
          </a:p>
        </p:txBody>
      </p:sp>
      <p:sp>
        <p:nvSpPr>
          <p:cNvPr id="12" name="Callout 2">
            <a:extLst xmlns:a="http://schemas.openxmlformats.org/drawingml/2006/main">
              <a:ext uri="{FF2B5EF4-FFF2-40B4-BE49-F238E27FC236}">
                <a16:creationId xmlns:a16="http://schemas.microsoft.com/office/drawing/2014/main" id="{A0ED7BBF-94BF-4B68-97D8-C39C7F567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3310" y="399833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3" name="Callout 2">
            <a:extLst xmlns:a="http://schemas.openxmlformats.org/drawingml/2006/main">
              <a:ext uri="{FF2B5EF4-FFF2-40B4-BE49-F238E27FC236}">
                <a16:creationId xmlns:a16="http://schemas.microsoft.com/office/drawing/2014/main" id="{04374AA0-B067-49A8-A523-26C6CF1D7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49339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FCCC6F-4700-4762-86BE-252628D4F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9339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백업 목록과 신규 메뉴</a:t>
            </a:r>
          </a:p>
        </p:txBody>
      </p:sp>
      <p:sp>
        <p:nvSpPr>
          <p:cNvPr id="15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7D6EA2E0-D93D-40B6-BEE3-C200DCB2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54864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신규 백업 버튼과 날짜·경로·소유자·크기·백업 주기 열을 확인합니다. 진행 중인 백업이 없는 상태이며 실제 백업 작업은 실행되지 않습니다.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47D27E-C4AB-4929-A593-ECAAECB01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91475"/>
            <a:ext cx="1314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앱 화면: 예시 데이터이며 실제 업로드·삭제·설정 저장·결제는 실행되지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266417898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043B4D-B715-45ED-B9D4-E65A8D3B9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D526CC-F9A8-414F-880C-1EED1CD44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81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아카이브 관리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C6BD02-C182-4D5C-9593-DCEFC3C0A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보관 용량과 아카이브 상태를 확인하는 화면입니다.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325F16-1069-4AAD-B45C-25EC8CF66C3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9427fa6328470b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94A2A9-EA88-477C-9555-A5C4F3EBC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24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3D25B7-3C3F-450C-B269-67A68FC2894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74d4d0f85745e8"/>
          <a:stretch xmlns:a="http://schemas.openxmlformats.org/drawingml/2006/main"/>
        </p:blipFill>
        <p:spPr>
          <a:xfrm xmlns:a="http://schemas.openxmlformats.org/drawingml/2006/main">
            <a:off x="704850" y="2149078"/>
            <a:ext cx="9715500" cy="546496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F14291-F089-4AAE-8C40-6D391D57B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114550"/>
            <a:ext cx="400050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D8EC"/>
            </a:solidFill>
          </a:ln>
        </p:spPr>
      </p:sp>
      <p:sp>
        <p:nvSpPr>
          <p:cNvPr id="8" name="Callout 1">
            <a:extLst xmlns:a="http://schemas.openxmlformats.org/drawingml/2006/main">
              <a:ext uri="{FF2B5EF4-FFF2-40B4-BE49-F238E27FC236}">
                <a16:creationId xmlns:a16="http://schemas.microsoft.com/office/drawing/2014/main" id="{A73ECECA-E361-4CB3-BC77-6844AB873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3310" y="2807898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Callout 1">
            <a:extLst xmlns:a="http://schemas.openxmlformats.org/drawingml/2006/main">
              <a:ext uri="{FF2B5EF4-FFF2-40B4-BE49-F238E27FC236}">
                <a16:creationId xmlns:a16="http://schemas.microsoft.com/office/drawing/2014/main" id="{603A03C5-741F-45EE-B1E3-6F9A1B595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3812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351CFA-96C0-4549-95C0-A23901199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3812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아카이브 선택</a:t>
            </a:r>
          </a:p>
        </p:txBody>
      </p:sp>
      <p:sp>
        <p:nvSpPr>
          <p:cNvPr id="11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22528DA8-6398-49DA-AE76-382E70A04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29337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백업 및 아카이브 화면에서 아카이브 선택 상태를 확인합니다. 백업과 보관 영역의 사용량을 나누어 보는 구조입니다.</a:t>
            </a:r>
          </a:p>
        </p:txBody>
      </p:sp>
      <p:sp>
        <p:nvSpPr>
          <p:cNvPr id="12" name="Callout 2">
            <a:extLst xmlns:a="http://schemas.openxmlformats.org/drawingml/2006/main">
              <a:ext uri="{FF2B5EF4-FFF2-40B4-BE49-F238E27FC236}">
                <a16:creationId xmlns:a16="http://schemas.microsoft.com/office/drawing/2014/main" id="{60A9F4F2-093E-4D4C-B345-F3B88D226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3310" y="399833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3" name="Callout 2">
            <a:extLst xmlns:a="http://schemas.openxmlformats.org/drawingml/2006/main">
              <a:ext uri="{FF2B5EF4-FFF2-40B4-BE49-F238E27FC236}">
                <a16:creationId xmlns:a16="http://schemas.microsoft.com/office/drawing/2014/main" id="{6A1046C4-F7A2-4ADB-948F-F1DD029A6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49339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7A7DAB-FD65-4C17-93EB-33154B15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9339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보관 목록과 상태</a:t>
            </a:r>
          </a:p>
        </p:txBody>
      </p:sp>
      <p:sp>
        <p:nvSpPr>
          <p:cNvPr id="15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3776AC6E-5A57-415F-BAEB-FAD066E03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54864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신규 아카이브 버튼과 날짜·경로·소유자·크기·상태 열을 확인합니다. 현재 목록은 비어 있으며 실제 보관·복원 동작은 이 실습에 포함되지 않습니다.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978812-5E8F-4319-A96F-01FD2FE64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91475"/>
            <a:ext cx="1314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앱 화면: 예시 데이터이며 실제 업로드·삭제·설정 저장·결제는 실행되지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011325762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23193A-E8C9-4D9C-9842-2C82C26CD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04E9E8-0A9C-4B9F-BEEB-94BEEF381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81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활동 로그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D3983C-397E-483F-8194-05735CB07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사용자 활동을 기간과 기록 내용으로 살펴봅니다.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10C0C1-968B-4234-A8B2-688AA77730B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c6cbb125774238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5F3118-37A6-491C-A601-4740A92B4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25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30AFF6-9F8E-4B58-8C1D-D457577913A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aa6b7d21a34adb"/>
          <a:stretch xmlns:a="http://schemas.openxmlformats.org/drawingml/2006/main"/>
        </p:blipFill>
        <p:spPr>
          <a:xfrm xmlns:a="http://schemas.openxmlformats.org/drawingml/2006/main">
            <a:off x="704850" y="2147398"/>
            <a:ext cx="9715500" cy="546832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C85CCE-08DE-4542-9E86-3D5C6C76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114550"/>
            <a:ext cx="400050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D8EC"/>
            </a:solidFill>
          </a:ln>
        </p:spPr>
      </p:sp>
      <p:sp>
        <p:nvSpPr>
          <p:cNvPr id="8" name="Callout 1">
            <a:extLst xmlns:a="http://schemas.openxmlformats.org/drawingml/2006/main">
              <a:ext uri="{FF2B5EF4-FFF2-40B4-BE49-F238E27FC236}">
                <a16:creationId xmlns:a16="http://schemas.microsoft.com/office/drawing/2014/main" id="{1E2A14B2-A7EC-4BAC-BC68-66E9827FF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1712" y="2807898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Callout 1">
            <a:extLst xmlns:a="http://schemas.openxmlformats.org/drawingml/2006/main">
              <a:ext uri="{FF2B5EF4-FFF2-40B4-BE49-F238E27FC236}">
                <a16:creationId xmlns:a16="http://schemas.microsoft.com/office/drawing/2014/main" id="{AC15A58E-6F13-44FA-98F4-17379FD7D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3812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6185E2-651E-4202-98D0-E7019D2D5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3812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조회 조건과 다운로드</a:t>
            </a:r>
          </a:p>
        </p:txBody>
      </p:sp>
      <p:sp>
        <p:nvSpPr>
          <p:cNvPr id="11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337DD6C5-50DE-41E1-A9E3-D397EB1F9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29337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시작·종료 날짜, 활동 종류 선택과 다운로드 도구의 위치를 확인합니다. 실제 서버 로그 조회·다운로드 결과는 연결되어 있지 않습니다.</a:t>
            </a:r>
          </a:p>
        </p:txBody>
      </p:sp>
      <p:sp>
        <p:nvSpPr>
          <p:cNvPr id="12" name="Callout 2">
            <a:extLst xmlns:a="http://schemas.openxmlformats.org/drawingml/2006/main">
              <a:ext uri="{FF2B5EF4-FFF2-40B4-BE49-F238E27FC236}">
                <a16:creationId xmlns:a16="http://schemas.microsoft.com/office/drawing/2014/main" id="{B377975E-13B8-40DD-92E9-1B12966DD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1712" y="3729527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3" name="Callout 2">
            <a:extLst xmlns:a="http://schemas.openxmlformats.org/drawingml/2006/main">
              <a:ext uri="{FF2B5EF4-FFF2-40B4-BE49-F238E27FC236}">
                <a16:creationId xmlns:a16="http://schemas.microsoft.com/office/drawing/2014/main" id="{33C89F12-C107-4655-B18A-4F37B431A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49339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C366D4-8BEC-4E2C-A7D6-C7B09DDCA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9339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활동 기록 목록</a:t>
            </a:r>
          </a:p>
        </p:txBody>
      </p:sp>
      <p:sp>
        <p:nvSpPr>
          <p:cNvPr id="15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5F4559E2-97A2-43E6-81DA-FC2FF6145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54864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날짜·활동 로그·경로·크기·IP로 예시 기록을 읽습니다. 로그인과 파일 추가·조회 사례가 표시되며 사용자·날짜·IP는 모두 실습용 데이터입니다.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01FB60-5234-4CE3-BEEA-431EFA5C3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91475"/>
            <a:ext cx="1314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앱 화면: 예시 데이터이며 실제 업로드·삭제·설정 저장·결제는 실행되지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23191008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93E623-04A7-4B6E-B144-9C14B052E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8FB61E-12D6-4B07-97D8-4AABA121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81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앱 내 요금제와 사용 현황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B809E5-C84E-4B19-8D81-3CEEC2D33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현재 플랜·사용량과 Family 분류 화면을 살펴봅니다.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678E73-3356-47B2-834A-A657208A731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af9c86906c46b9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85BFFB-7F3A-406A-9A51-044891A3D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26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625B35-D0A4-4F43-8F82-841D7EA9AC7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49815284fb44e6"/>
          <a:stretch xmlns:a="http://schemas.openxmlformats.org/drawingml/2006/main"/>
        </p:blipFill>
        <p:spPr>
          <a:xfrm xmlns:a="http://schemas.openxmlformats.org/drawingml/2006/main">
            <a:off x="704850" y="2147398"/>
            <a:ext cx="9715500" cy="546832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0A4BF9-BDB5-4790-B165-030DAA6C3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114550"/>
            <a:ext cx="400050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D8EC"/>
            </a:solidFill>
          </a:ln>
        </p:spPr>
      </p:sp>
      <p:sp>
        <p:nvSpPr>
          <p:cNvPr id="8" name="Callout 1">
            <a:extLst xmlns:a="http://schemas.openxmlformats.org/drawingml/2006/main">
              <a:ext uri="{FF2B5EF4-FFF2-40B4-BE49-F238E27FC236}">
                <a16:creationId xmlns:a16="http://schemas.microsoft.com/office/drawing/2014/main" id="{B5535657-BD46-4A90-AE18-0332DEBEB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3310" y="2423887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Callout 1">
            <a:extLst xmlns:a="http://schemas.openxmlformats.org/drawingml/2006/main">
              <a:ext uri="{FF2B5EF4-FFF2-40B4-BE49-F238E27FC236}">
                <a16:creationId xmlns:a16="http://schemas.microsoft.com/office/drawing/2014/main" id="{523A8A86-7051-4570-8108-43B4EB158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3812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977AF8-E45E-4906-93B0-B4F279A7D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3812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현재 사용 현황</a:t>
            </a:r>
          </a:p>
        </p:txBody>
      </p:sp>
      <p:sp>
        <p:nvSpPr>
          <p:cNvPr id="11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ADEACF48-1D45-45F6-8382-FFC503FA0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29337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앱 상단에서 현재 플랜, 사용 기간, 저장 용량·사용자·업로드 제한과 백업·아카이브 상태를 확인합니다. 이 화면의 값은 실습용 예시입니다.</a:t>
            </a:r>
          </a:p>
        </p:txBody>
      </p:sp>
      <p:sp>
        <p:nvSpPr>
          <p:cNvPr id="12" name="Callout 2">
            <a:extLst xmlns:a="http://schemas.openxmlformats.org/drawingml/2006/main">
              <a:ext uri="{FF2B5EF4-FFF2-40B4-BE49-F238E27FC236}">
                <a16:creationId xmlns:a16="http://schemas.microsoft.com/office/drawing/2014/main" id="{9978B931-B8EF-4C9A-BD04-935CD04C0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3310" y="6071999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3" name="Callout 2">
            <a:extLst xmlns:a="http://schemas.openxmlformats.org/drawingml/2006/main">
              <a:ext uri="{FF2B5EF4-FFF2-40B4-BE49-F238E27FC236}">
                <a16:creationId xmlns:a16="http://schemas.microsoft.com/office/drawing/2014/main" id="{5B970B89-7100-48C0-8CFA-3541E8E1B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49339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1AFA7D-9CA5-4E87-B43B-6C77A3EE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9339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분류·청구 방식</a:t>
            </a:r>
          </a:p>
        </p:txBody>
      </p:sp>
      <p:sp>
        <p:nvSpPr>
          <p:cNvPr id="15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66313E9E-69BA-49AD-886D-5958BC5E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54864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아래 분류에서 Family와 청구 주기를 선택하는 구조를 확인합니다. 화면의 플랜별 안내와 구매 도구를 확인할 수 있으며 실제 결제는 실행되지 않습니다.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77BD67-8592-4F10-A5A6-DAB6F00FC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91475"/>
            <a:ext cx="1314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앱 화면: 예시 데이터이며 실제 업로드·삭제·설정 저장·결제는 실행되지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96948861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D63317-38DA-48A7-8EE2-26B5CB6B8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4A7258-7639-424C-AC99-03698AF9E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81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앱 내 요금제: Business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96686D-5E7B-4E6F-B492-C73A909D0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앱의 분류 탭과 플랜별 기능 안내를 확인합니다.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2E816D-735D-49CC-8538-AF6D9233748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f65e8b5350451e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1E827D-5488-4877-8413-B4079A0EB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27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081CEB-0FBE-4BE3-B0BA-424CE83792F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6fa992c8e840d1"/>
          <a:stretch xmlns:a="http://schemas.openxmlformats.org/drawingml/2006/main"/>
        </p:blipFill>
        <p:spPr>
          <a:xfrm xmlns:a="http://schemas.openxmlformats.org/drawingml/2006/main">
            <a:off x="704850" y="2147398"/>
            <a:ext cx="9715500" cy="546832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6013F5-DF31-4310-BE4B-115068768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114550"/>
            <a:ext cx="400050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D8EC"/>
            </a:solidFill>
          </a:ln>
        </p:spPr>
      </p:sp>
      <p:sp>
        <p:nvSpPr>
          <p:cNvPr id="8" name="Callout 1">
            <a:extLst xmlns:a="http://schemas.openxmlformats.org/drawingml/2006/main">
              <a:ext uri="{FF2B5EF4-FFF2-40B4-BE49-F238E27FC236}">
                <a16:creationId xmlns:a16="http://schemas.microsoft.com/office/drawing/2014/main" id="{F6051E47-71C5-46A3-8C37-A65BD2E27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3310" y="2347084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Callout 1">
            <a:extLst xmlns:a="http://schemas.openxmlformats.org/drawingml/2006/main">
              <a:ext uri="{FF2B5EF4-FFF2-40B4-BE49-F238E27FC236}">
                <a16:creationId xmlns:a16="http://schemas.microsoft.com/office/drawing/2014/main" id="{46E8A656-43DF-4392-9863-62ECBD40F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3812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2328EB-8B7F-4C2C-B914-9E7B5D378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3812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Business 분류</a:t>
            </a:r>
          </a:p>
        </p:txBody>
      </p:sp>
      <p:sp>
        <p:nvSpPr>
          <p:cNvPr id="11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42594BA4-5A37-4AC5-A9A8-96D5AC665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29337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Business가 선택된 화면에서 Standard·Professional 등 카드에 표시된 용량·사용자·기능 안내를 확인합니다. 이 사본의 수치는 실제 판매 조건으로 안내하지 않습니다.</a:t>
            </a:r>
          </a:p>
        </p:txBody>
      </p:sp>
      <p:sp>
        <p:nvSpPr>
          <p:cNvPr id="12" name="Callout 2">
            <a:extLst xmlns:a="http://schemas.openxmlformats.org/drawingml/2006/main">
              <a:ext uri="{FF2B5EF4-FFF2-40B4-BE49-F238E27FC236}">
                <a16:creationId xmlns:a16="http://schemas.microsoft.com/office/drawing/2014/main" id="{70BCB016-2A86-4B8D-BE46-64509AF90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3310" y="4382347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3" name="Callout 2">
            <a:extLst xmlns:a="http://schemas.openxmlformats.org/drawingml/2006/main">
              <a:ext uri="{FF2B5EF4-FFF2-40B4-BE49-F238E27FC236}">
                <a16:creationId xmlns:a16="http://schemas.microsoft.com/office/drawing/2014/main" id="{3FD0EC23-5DDD-4329-9397-12FC4EBAD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49339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334221-C10B-4D73-9372-F1E82758E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9339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기능과 구매 도구</a:t>
            </a:r>
          </a:p>
        </p:txBody>
      </p:sp>
      <p:sp>
        <p:nvSpPr>
          <p:cNvPr id="15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3D073B85-CBA8-4BA4-9C99-B42EE7496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54864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각 플랜의 자세히 보기와 지금 구매 도구를 구분합니다. 앱에 보이는 기능 목록의 위치를 설명하며 미리보기·버저닝 등의 실제 동작은 검증되지 않았습니다.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92561B-A502-4CE8-A262-6D69BEF4B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91475"/>
            <a:ext cx="1314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앱 화면: 예시 데이터이며 실제 업로드·삭제·설정 저장·결제는 실행되지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28394762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43C097-10E3-4729-83A8-DEA548CDC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9C76FF-5915-4FA8-B61F-3F5DC47C8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81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앱 내 요금제: Enterprise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D8959C-EC9D-4D28-9311-0E9700BE0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기업 규모별 플랜을 확인하는 앱 화면입니다.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0061CA-0129-4479-B1F1-D9093621DB9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a18eb749274399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19CBE1-E592-488A-8A3F-96CF62BED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28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26F2A7-1D71-4303-B85F-3A68C6A0476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5fd8b0ef1a49d3"/>
          <a:stretch xmlns:a="http://schemas.openxmlformats.org/drawingml/2006/main"/>
        </p:blipFill>
        <p:spPr>
          <a:xfrm xmlns:a="http://schemas.openxmlformats.org/drawingml/2006/main">
            <a:off x="704850" y="2147398"/>
            <a:ext cx="9715500" cy="546832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14D609-8FF0-4A79-A22B-FA13E0563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114550"/>
            <a:ext cx="400050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D8EC"/>
            </a:solidFill>
          </a:ln>
        </p:spPr>
      </p:sp>
      <p:sp>
        <p:nvSpPr>
          <p:cNvPr id="8" name="Callout 1">
            <a:extLst xmlns:a="http://schemas.openxmlformats.org/drawingml/2006/main">
              <a:ext uri="{FF2B5EF4-FFF2-40B4-BE49-F238E27FC236}">
                <a16:creationId xmlns:a16="http://schemas.microsoft.com/office/drawing/2014/main" id="{12BE0A94-686F-4DFB-9E9C-A31679598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3310" y="2347084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Callout 1">
            <a:extLst xmlns:a="http://schemas.openxmlformats.org/drawingml/2006/main">
              <a:ext uri="{FF2B5EF4-FFF2-40B4-BE49-F238E27FC236}">
                <a16:creationId xmlns:a16="http://schemas.microsoft.com/office/drawing/2014/main" id="{28F9D65D-1E4D-4BE0-A5BD-D372B4C28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3812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3E80D0-3E49-44C7-8AF0-BC33B5195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3812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Enterprise 분류</a:t>
            </a:r>
          </a:p>
        </p:txBody>
      </p:sp>
      <p:sp>
        <p:nvSpPr>
          <p:cNvPr id="11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9172F06D-E797-4207-9E52-BF9FEBDB9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29337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Enterprise 선택 상태와 각 카드의 플랜명·용량·기능 안내를 확인합니다. 실제 계약이나 요금의 확정 정보가 아니라 실습 화면의 구성 설명입니다.</a:t>
            </a:r>
          </a:p>
        </p:txBody>
      </p:sp>
      <p:sp>
        <p:nvSpPr>
          <p:cNvPr id="12" name="Callout 2">
            <a:extLst xmlns:a="http://schemas.openxmlformats.org/drawingml/2006/main">
              <a:ext uri="{FF2B5EF4-FFF2-40B4-BE49-F238E27FC236}">
                <a16:creationId xmlns:a16="http://schemas.microsoft.com/office/drawing/2014/main" id="{5D0809DD-092F-482B-8A02-C7E18B4C8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3310" y="4382347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3" name="Callout 2">
            <a:extLst xmlns:a="http://schemas.openxmlformats.org/drawingml/2006/main">
              <a:ext uri="{FF2B5EF4-FFF2-40B4-BE49-F238E27FC236}">
                <a16:creationId xmlns:a16="http://schemas.microsoft.com/office/drawing/2014/main" id="{1ED2E876-736F-4634-B450-80E7FF50D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49339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C92269-CB01-4D41-9D4B-667BAAD58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93395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청구 방식과 안내</a:t>
            </a:r>
          </a:p>
        </p:txBody>
      </p:sp>
      <p:sp>
        <p:nvSpPr>
          <p:cNvPr id="15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D26364E1-0207-43CE-9BD0-87232B24B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5486400"/>
            <a:ext cx="3524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청구 주기 선택, 자세히 보기·구매 도구의 위치를 파악합니다. 구매·결제·계약 변경은 이 앱 사본에서 실행되지 않습니다. 표시된 카드와 기능 안내는 실습 화면의 예시입니다.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F84E74-F3EF-46F0-8AB3-3AC2525D5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91475"/>
            <a:ext cx="1314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앱 화면: 예시 데이터이며 실제 업로드·삭제·설정 저장·결제는 실행되지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2028563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2026-10-25T09:59:43.6750000Z</dcterms:created>
  <dcterms:modified xsi:type="dcterms:W3CDTF">2026-10-25T09:59:43.6750000Z</dcterms:modified>
</coreProperties>
</file>