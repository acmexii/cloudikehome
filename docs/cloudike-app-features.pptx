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e800ffd03a04bab" /><Relationship Type="http://schemas.openxmlformats.org/officeDocument/2006/relationships/extended-properties" Target="/docProps/app.xml" Id="Rb0afb06a41ab4bc5" /><Relationship Type="http://schemas.openxmlformats.org/officeDocument/2006/relationships/officeDocument" Target="/ppt/presentation.xml" Id="R4f863630b1a047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90aad8cf48340fb"/>
  </p:sldMasterIdLst>
  <p:notesMasterIdLst>
    <p:notesMasterId xmlns:r="http://schemas.openxmlformats.org/officeDocument/2006/relationships" r:id="R166c433ed5f94627"/>
  </p:notesMasterIdLst>
  <p:sldIdLst>
    <p:sldId xmlns:r="http://schemas.openxmlformats.org/officeDocument/2006/relationships" id="256" r:id="R639e37cb7dab495a"/>
    <p:sldId xmlns:r="http://schemas.openxmlformats.org/officeDocument/2006/relationships" id="257" r:id="R6fed2a2bf1e44cc8"/>
    <p:sldId xmlns:r="http://schemas.openxmlformats.org/officeDocument/2006/relationships" id="258" r:id="R8047ba88e84a46ca"/>
    <p:sldId xmlns:r="http://schemas.openxmlformats.org/officeDocument/2006/relationships" id="259" r:id="R976d88c36812430d"/>
    <p:sldId xmlns:r="http://schemas.openxmlformats.org/officeDocument/2006/relationships" id="260" r:id="Rfaadf2ca3f7e459a"/>
    <p:sldId xmlns:r="http://schemas.openxmlformats.org/officeDocument/2006/relationships" id="261" r:id="R9f5f1ab7958947a4"/>
    <p:sldId xmlns:r="http://schemas.openxmlformats.org/officeDocument/2006/relationships" id="262" r:id="Rd5a6bc82470f4795"/>
    <p:sldId xmlns:r="http://schemas.openxmlformats.org/officeDocument/2006/relationships" id="263" r:id="Rda74ae491af64d37"/>
    <p:sldId xmlns:r="http://schemas.openxmlformats.org/officeDocument/2006/relationships" id="264" r:id="R3b4dec822d114cd6"/>
    <p:sldId xmlns:r="http://schemas.openxmlformats.org/officeDocument/2006/relationships" id="265" r:id="R84fe967200f84888"/>
    <p:sldId xmlns:r="http://schemas.openxmlformats.org/officeDocument/2006/relationships" id="266" r:id="R8f410d3ff4104553"/>
    <p:sldId xmlns:r="http://schemas.openxmlformats.org/officeDocument/2006/relationships" id="267" r:id="R29d1e11e3d7d4784"/>
    <p:sldId xmlns:r="http://schemas.openxmlformats.org/officeDocument/2006/relationships" id="268" r:id="R9297843ed74749f1"/>
    <p:sldId xmlns:r="http://schemas.openxmlformats.org/officeDocument/2006/relationships" id="269" r:id="Raa72b8ba38cb4c4c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3733f04dfe420b" /><Relationship Type="http://schemas.openxmlformats.org/officeDocument/2006/relationships/slideMaster" Target="/ppt/slideMasters/slideMaster1.xml" Id="R890aad8cf48340fb" /><Relationship Type="http://schemas.openxmlformats.org/officeDocument/2006/relationships/notesMaster" Target="/ppt/notesMasters/notesMaster1.xml" Id="R166c433ed5f94627" /><Relationship Type="http://schemas.openxmlformats.org/officeDocument/2006/relationships/presProps" Target="/ppt/presProps.xml" Id="Rff22cb7765e041e0" /><Relationship Type="http://schemas.openxmlformats.org/officeDocument/2006/relationships/tableStyles" Target="/ppt/tableStyles.xml" Id="R4235c2c8b25b43a1" /><Relationship Type="http://schemas.openxmlformats.org/officeDocument/2006/relationships/slide" Target="/ppt/slides/slide1.xml" Id="R639e37cb7dab495a" /><Relationship Type="http://schemas.openxmlformats.org/officeDocument/2006/relationships/slide" Target="/ppt/slides/slide2.xml" Id="R6fed2a2bf1e44cc8" /><Relationship Type="http://schemas.openxmlformats.org/officeDocument/2006/relationships/slide" Target="/ppt/slides/slide3.xml" Id="R8047ba88e84a46ca" /><Relationship Type="http://schemas.openxmlformats.org/officeDocument/2006/relationships/slide" Target="/ppt/slides/slide4.xml" Id="R976d88c36812430d" /><Relationship Type="http://schemas.openxmlformats.org/officeDocument/2006/relationships/slide" Target="/ppt/slides/slide5.xml" Id="Rfaadf2ca3f7e459a" /><Relationship Type="http://schemas.openxmlformats.org/officeDocument/2006/relationships/slide" Target="/ppt/slides/slide6.xml" Id="R9f5f1ab7958947a4" /><Relationship Type="http://schemas.openxmlformats.org/officeDocument/2006/relationships/slide" Target="/ppt/slides/slide7.xml" Id="Rd5a6bc82470f4795" /><Relationship Type="http://schemas.openxmlformats.org/officeDocument/2006/relationships/slide" Target="/ppt/slides/slide8.xml" Id="Rda74ae491af64d37" /><Relationship Type="http://schemas.openxmlformats.org/officeDocument/2006/relationships/slide" Target="/ppt/slides/slide9.xml" Id="R3b4dec822d114cd6" /><Relationship Type="http://schemas.openxmlformats.org/officeDocument/2006/relationships/slide" Target="/ppt/slides/slide10.xml" Id="R84fe967200f84888" /><Relationship Type="http://schemas.openxmlformats.org/officeDocument/2006/relationships/slide" Target="/ppt/slides/slide11.xml" Id="R8f410d3ff4104553" /><Relationship Type="http://schemas.openxmlformats.org/officeDocument/2006/relationships/slide" Target="/ppt/slides/slide12.xml" Id="R29d1e11e3d7d4784" /><Relationship Type="http://schemas.openxmlformats.org/officeDocument/2006/relationships/slide" Target="/ppt/slides/slide13.xml" Id="R9297843ed74749f1" /><Relationship Type="http://schemas.openxmlformats.org/officeDocument/2006/relationships/slide" Target="/ppt/slides/slide14.xml" Id="Raa72b8ba38cb4c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32974671c34f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17e2b75dea44a9" /><Relationship Type="http://schemas.openxmlformats.org/officeDocument/2006/relationships/notesMaster" Target="/ppt/notesMasters/notesMaster1.xml" Id="R0ea3d82aab6040d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6cd69dc9fe4c01" /><Relationship Type="http://schemas.openxmlformats.org/officeDocument/2006/relationships/notesMaster" Target="/ppt/notesMasters/notesMaster1.xml" Id="R594408fd9c4b4a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68f4f84afd84107" /><Relationship Type="http://schemas.openxmlformats.org/officeDocument/2006/relationships/notesMaster" Target="/ppt/notesMasters/notesMaster1.xml" Id="R335b4f78cee24c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667258949d4f2f" /><Relationship Type="http://schemas.openxmlformats.org/officeDocument/2006/relationships/notesMaster" Target="/ppt/notesMasters/notesMaster1.xml" Id="Rd5f1a0db10e74c0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c3f93c33ce450f" /><Relationship Type="http://schemas.openxmlformats.org/officeDocument/2006/relationships/notesMaster" Target="/ppt/notesMasters/notesMaster1.xml" Id="R41a7a81b4af7497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7c50ee6a977427b" /><Relationship Type="http://schemas.openxmlformats.org/officeDocument/2006/relationships/notesMaster" Target="/ppt/notesMasters/notesMaster1.xml" Id="R6fadf9ca10604a6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408dbeb51c642e8" /><Relationship Type="http://schemas.openxmlformats.org/officeDocument/2006/relationships/notesMaster" Target="/ppt/notesMasters/notesMaster1.xml" Id="Reea05671428f47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c46cccaa0e142b1" /><Relationship Type="http://schemas.openxmlformats.org/officeDocument/2006/relationships/notesMaster" Target="/ppt/notesMasters/notesMaster1.xml" Id="R1b2e6c1ad9364c1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34af78e5686482e" /><Relationship Type="http://schemas.openxmlformats.org/officeDocument/2006/relationships/notesMaster" Target="/ppt/notesMasters/notesMaster1.xml" Id="Rfb8000edf6f9427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458f3e47aae40a3" /><Relationship Type="http://schemas.openxmlformats.org/officeDocument/2006/relationships/notesMaster" Target="/ppt/notesMasters/notesMaster1.xml" Id="R133060e147a346f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f664070713648d8" /><Relationship Type="http://schemas.openxmlformats.org/officeDocument/2006/relationships/notesMaster" Target="/ppt/notesMasters/notesMaster1.xml" Id="R570fa80dc2e1435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94818de61fa4188" /><Relationship Type="http://schemas.openxmlformats.org/officeDocument/2006/relationships/notesMaster" Target="/ppt/notesMasters/notesMaster1.xml" Id="Ra701b2eb45a64f8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97b49e4f0294fe0" /><Relationship Type="http://schemas.openxmlformats.org/officeDocument/2006/relationships/notesMaster" Target="/ppt/notesMasters/notesMaster1.xml" Id="Re39974c440d04da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cce5c00b0344af1" /><Relationship Type="http://schemas.openxmlformats.org/officeDocument/2006/relationships/notesMaster" Target="/ppt/notesMasters/notesMaster1.xml" Id="R12c84cacbde947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회사와 제품 계층, 적용 사례, 주요 기능, 사전 질의에 대한 상세 답변, 증권 샘플 순서로 설명합니다. 핵심은 초기 그래프 생성뿐 아니라 변경 이후의 검증과 운영입니다.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/Users/uengine/uengine-platform/demo-securities/requirement/Requirement.md</a:t>
            </a:r>
          </a:p>
          <a:p xmlns:a="http://schemas.openxmlformats.org/drawingml/2006/main">
            <a:r>
              <a:t>/Users/uengine/Downloads/MSASchool_교과정제안서수정본 (2).pdf (표지 사진 및 디자인 참조, 교육 브랜드 로고는 유엔진 로고로 대체)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https://acmexii.github.io/cloudikehome/app/dashboard/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https://acmexii.github.io/cloudikehome/app/documents/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https://acmexii.github.io/cloudikehome/app/shared-documents/by-me/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https://acmexii.github.io/cloudikehome/app/file-requests/ ; Git PR #9, merge 1f443cab953c1ae9c7706e3a32caa6ad06074051. Captured 2026-10-25 KST. Actual browser request creation and example-file submission verified. Metadata only, no server upload. Description body 14pt. Font fallback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https://acmexii.github.io/cloudikehome/app/file-requests/ ; Git PR #9, merge 1f443cab953c1ae9c7706e3a32caa6ad06074051. Captured 2026-10-25 KST. Actual browser request creation and example-file submission verified. Metadata only, no server upload. Description body 14pt. Font fallback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https://acmexii.github.io/cloudikehome/app/company-folder/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https://acmexii.github.io/cloudikehome/app/clipbook/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https://acmexii.github.io/cloudikehome/app/settings/team-management/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https://acmexii.github.io/cloudikehome/app/settings/company/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https://acmexii.github.io/cloudikehome/app/settings/activity-logs/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https://acmexii.github.io/cloudikehome/app/settings/backup/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https://acmexii.github.io/cloudikehome/app/settings/profile/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https://acmexii.github.io/cloudikehome/app/pages/ and visible trial limitations.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a6f0b860af468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dc8e23e23334977" /><Relationship Type="http://schemas.openxmlformats.org/officeDocument/2006/relationships/slideLayout" Target="/ppt/slideLayouts/slideLayout1.xml" Id="Rf2b4b34b9b274bc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b4b34b9b274bc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f39c93f76242b4" /><Relationship Type="http://schemas.openxmlformats.org/officeDocument/2006/relationships/image" Target="/ppt/media/image.png" Id="Rde8c8e9a71b6434a" /><Relationship Type="http://schemas.openxmlformats.org/officeDocument/2006/relationships/image" Target="/ppt/media/image2.png" Id="R7bf16dbaffaa45c8" /><Relationship Type="http://schemas.openxmlformats.org/officeDocument/2006/relationships/notesSlide" Target="/ppt/notesSlides/notesSlide1.xml" Id="R9f444ad64fa04d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9e4f903bec44fe" /><Relationship Type="http://schemas.openxmlformats.org/officeDocument/2006/relationships/image" Target="/ppt/media/image3.png" Id="Rb22f0a4ebba84d1d" /><Relationship Type="http://schemas.openxmlformats.org/officeDocument/2006/relationships/image" Target="/ppt/media/image.jpeg" Id="R2b570fcf97ed47af" /><Relationship Type="http://schemas.openxmlformats.org/officeDocument/2006/relationships/notesSlide" Target="/ppt/notesSlides/notesSlide2.xml" Id="R80bb6694830548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182ac6e1e64586" /><Relationship Type="http://schemas.openxmlformats.org/officeDocument/2006/relationships/image" Target="/ppt/media/image4.png" Id="Ra21c67f97f964f96" /><Relationship Type="http://schemas.openxmlformats.org/officeDocument/2006/relationships/image" Target="/ppt/media/image2.jpeg" Id="R55a9d6078f384215" /><Relationship Type="http://schemas.openxmlformats.org/officeDocument/2006/relationships/notesSlide" Target="/ppt/notesSlides/notesSlide3.xml" Id="R7b27bd772d99485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7f204f37a44bd3" /><Relationship Type="http://schemas.openxmlformats.org/officeDocument/2006/relationships/image" Target="/ppt/media/image5.png" Id="R64f747d483f2458d" /><Relationship Type="http://schemas.openxmlformats.org/officeDocument/2006/relationships/image" Target="/ppt/media/image3.jpeg" Id="R91313623949e4c06" /><Relationship Type="http://schemas.openxmlformats.org/officeDocument/2006/relationships/notesSlide" Target="/ppt/notesSlides/notesSlide4.xml" Id="R02208c6a61f0490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31206635ea49f4" /><Relationship Type="http://schemas.openxmlformats.org/officeDocument/2006/relationships/image" Target="/ppt/media/image6.png" Id="R465573e8c6034805" /><Relationship Type="http://schemas.openxmlformats.org/officeDocument/2006/relationships/image" Target="/ppt/media/image4.jpeg" Id="Rb353c91d99b04e94" /><Relationship Type="http://schemas.openxmlformats.org/officeDocument/2006/relationships/notesSlide" Target="/ppt/notesSlides/notesSlide5.xml" Id="R0a36710fbde544a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92bdc3b8a94353" /><Relationship Type="http://schemas.openxmlformats.org/officeDocument/2006/relationships/image" Target="/ppt/media/image7.png" Id="Rf0877996908242f3" /><Relationship Type="http://schemas.openxmlformats.org/officeDocument/2006/relationships/image" Target="/ppt/media/image5.jpeg" Id="Rfb327af6215a4f88" /><Relationship Type="http://schemas.openxmlformats.org/officeDocument/2006/relationships/notesSlide" Target="/ppt/notesSlides/notesSlide6.xml" Id="Rf0c5aceb036842b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6132d936104069" /><Relationship Type="http://schemas.openxmlformats.org/officeDocument/2006/relationships/image" Target="/ppt/media/image8.png" Id="Re98c9dd124494fbd" /><Relationship Type="http://schemas.openxmlformats.org/officeDocument/2006/relationships/image" Target="/ppt/media/image6.jpeg" Id="R3b32c6fc15cc4313" /><Relationship Type="http://schemas.openxmlformats.org/officeDocument/2006/relationships/notesSlide" Target="/ppt/notesSlides/notesSlide7.xml" Id="R9d9a43edd8d74fd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07bbec3c0e4d2d" /><Relationship Type="http://schemas.openxmlformats.org/officeDocument/2006/relationships/image" Target="/ppt/media/image9.png" Id="R7b639c7f20d4426c" /><Relationship Type="http://schemas.openxmlformats.org/officeDocument/2006/relationships/image" Target="/ppt/media/image7.jpeg" Id="R2f51c1aa469b45b1" /><Relationship Type="http://schemas.openxmlformats.org/officeDocument/2006/relationships/notesSlide" Target="/ppt/notesSlides/notesSlide8.xml" Id="R33dcf9928c9e40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16e81478a34e62" /><Relationship Type="http://schemas.openxmlformats.org/officeDocument/2006/relationships/image" Target="/ppt/media/image10.png" Id="R02763e2452094fb8" /><Relationship Type="http://schemas.openxmlformats.org/officeDocument/2006/relationships/image" Target="/ppt/media/image8.jpeg" Id="R47452822cd9d4d3d" /><Relationship Type="http://schemas.openxmlformats.org/officeDocument/2006/relationships/notesSlide" Target="/ppt/notesSlides/notesSlide9.xml" Id="R309317c4ff6a457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b284a935624bce" /><Relationship Type="http://schemas.openxmlformats.org/officeDocument/2006/relationships/image" Target="/ppt/media/image11.png" Id="R04ae8fafcafc41f5" /><Relationship Type="http://schemas.openxmlformats.org/officeDocument/2006/relationships/image" Target="/ppt/media/image9.jpeg" Id="R50260a56579448c7" /><Relationship Type="http://schemas.openxmlformats.org/officeDocument/2006/relationships/notesSlide" Target="/ppt/notesSlides/notesSlide10.xml" Id="R6b1fd618664648b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e3636c0ff04ae9" /><Relationship Type="http://schemas.openxmlformats.org/officeDocument/2006/relationships/image" Target="/ppt/media/image12.png" Id="R04765d9cbf474990" /><Relationship Type="http://schemas.openxmlformats.org/officeDocument/2006/relationships/image" Target="/ppt/media/image10.jpeg" Id="R8fabd61ba29b4447" /><Relationship Type="http://schemas.openxmlformats.org/officeDocument/2006/relationships/notesSlide" Target="/ppt/notesSlides/notesSlide11.xml" Id="Re1e7dfc5d394491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efd3387b474320" /><Relationship Type="http://schemas.openxmlformats.org/officeDocument/2006/relationships/image" Target="/ppt/media/image13.png" Id="Rf3aaa25876594005" /><Relationship Type="http://schemas.openxmlformats.org/officeDocument/2006/relationships/image" Target="/ppt/media/image11.jpeg" Id="Rd3ed8756f0694dbf" /><Relationship Type="http://schemas.openxmlformats.org/officeDocument/2006/relationships/notesSlide" Target="/ppt/notesSlides/notesSlide12.xml" Id="R73a2411df4714f3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21160bb3f24096" /><Relationship Type="http://schemas.openxmlformats.org/officeDocument/2006/relationships/image" Target="/ppt/media/image14.png" Id="R4c6c172ad4fa4ead" /><Relationship Type="http://schemas.openxmlformats.org/officeDocument/2006/relationships/image" Target="/ppt/media/image12.jpeg" Id="R2beab606d00d4426" /><Relationship Type="http://schemas.openxmlformats.org/officeDocument/2006/relationships/notesSlide" Target="/ppt/notesSlides/notesSlide13.xml" Id="R24b9fe789d4b446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c7fe8c3ce64177" /><Relationship Type="http://schemas.openxmlformats.org/officeDocument/2006/relationships/image" Target="/ppt/media/image15.png" Id="Rbbec09ee6fac4922" /><Relationship Type="http://schemas.openxmlformats.org/officeDocument/2006/relationships/notesSlide" Target="/ppt/notesSlides/notesSlide14.xml" Id="R052eaf1ad0604fb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D9D520-D2D0-4CDC-8977-002EF20C18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8c8e9a71b6434a"/>
          <a:stretch xmlns:a="http://schemas.openxmlformats.org/drawingml/2006/main"/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ADCA7D-932C-4BA7-B686-F33904E0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86000"/>
            <a:ext cx="8191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클라우다이크 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85DA40-9B37-4CFA-AB3C-6E81953D3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0"/>
            <a:ext cx="8096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화면으로 이해하는</a:t>
            </a:r>
          </a:p>
          <a:p xmlns:a="http://schemas.openxmlformats.org/drawingml/2006/main">
            <a:pPr>
              <a:buNone/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주요 기능과 사용 안내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DDBA63-F3EB-419F-BEA9-09B580F0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76875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파일 요청을 포함한 주요 기능을 화면 번호와 상세 설명으로 확인하세요.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899790-6546-481A-B43B-EB99F3C953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f16dbaffaa45c8"/>
          <a:stretch xmlns:a="http://schemas.openxmlformats.org/drawingml/2006/main"/>
        </p:blipFill>
        <p:spPr>
          <a:xfrm xmlns:a="http://schemas.openxmlformats.org/drawingml/2006/main">
            <a:off x="800100" y="6667500"/>
            <a:ext cx="2695575" cy="5143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5CED9D-5256-4CBC-ACA3-5335AC0E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686675"/>
            <a:ext cx="723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앱 기능소개 개정판  /  2026.10</a:t>
            </a:r>
          </a:p>
        </p:txBody>
      </p:sp>
    </p:spTree>
    <p:extLst>
      <p:ext uri="{BB962C8B-B14F-4D97-AF65-F5344CB8AC3E}">
        <p14:creationId xmlns:p14="http://schemas.microsoft.com/office/powerpoint/2010/main" val="20077447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C637CD-D428-4E3A-A92E-9E504BA5E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A5AAA6-396A-4A78-AE92-60C724AC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대시보드에서 사용 현황을 한눈에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809A7A-E57F-4402-8B53-51D24799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개인·기업 용량과 트래픽, 최근 업로드 파일을 함께 확인합니다.</a:t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585723-D220-493B-88E4-717BCAB703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f0a4ebba84d1d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CC26ED-79FC-4FB7-8699-11CC57EC87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570fcf97ed47af"/>
          <a:stretch xmlns:a="http://schemas.openxmlformats.org/drawingml/2006/main"/>
        </p:blipFill>
        <p:spPr>
          <a:xfrm xmlns:a="http://schemas.openxmlformats.org/drawingml/2006/main">
            <a:off x="704850" y="2238857"/>
            <a:ext cx="10287000" cy="5094911"/>
          </a:xfrm>
          <a:prstGeom xmlns:a="http://schemas.openxmlformats.org/drawingml/2006/main" prst="rect">
            <a:avLst/>
          </a:prstGeom>
        </p:spPr>
      </p:pic>
      <p:sp>
        <p:nvSpPr>
          <p:cNvPr id="22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01B449CC-3A22-4146-98B4-37DF575A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23" name="Callout 1">
            <a:extLst xmlns:a="http://schemas.openxmlformats.org/drawingml/2006/main">
              <a:ext uri="{FF2B5EF4-FFF2-40B4-BE49-F238E27FC236}">
                <a16:creationId xmlns:a16="http://schemas.microsoft.com/office/drawing/2014/main" id="{C5E967CA-8838-460C-A702-13EC2F69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54" y="2363318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4" name="Callout 1">
            <a:extLst xmlns:a="http://schemas.openxmlformats.org/drawingml/2006/main">
              <a:ext uri="{FF2B5EF4-FFF2-40B4-BE49-F238E27FC236}">
                <a16:creationId xmlns:a16="http://schemas.microsoft.com/office/drawing/2014/main" id="{8754D73F-1D9A-4EB6-A722-D6F5C31A6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040978-0010-454E-B45B-B5A03A3E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사용 현황</a:t>
            </a:r>
          </a:p>
        </p:txBody>
      </p:sp>
      <p:sp>
        <p:nvSpPr>
          <p:cNvPr id="26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847DC630-A2FA-4861-B5D8-6EF2F6F2A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상단의 개인 용량·기업 용량·트래픽 카드에서 사용량과 최대 용량을 비교합니다. 저장 공간과 전송량의 현재 상태를 구분해 파악할 수 있습니다. 화면의 10GB 등 수치는 실습 계정의 예시입니다.</a:t>
            </a:r>
          </a:p>
        </p:txBody>
      </p:sp>
      <p:sp>
        <p:nvSpPr>
          <p:cNvPr id="27" name="Callout 2">
            <a:extLst xmlns:a="http://schemas.openxmlformats.org/drawingml/2006/main">
              <a:ext uri="{FF2B5EF4-FFF2-40B4-BE49-F238E27FC236}">
                <a16:creationId xmlns:a16="http://schemas.microsoft.com/office/drawing/2014/main" id="{6DCDF9B5-0463-4C95-AFDC-255F6D0B7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54" y="4633122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8" name="Callout 2">
            <a:extLst xmlns:a="http://schemas.openxmlformats.org/drawingml/2006/main">
              <a:ext uri="{FF2B5EF4-FFF2-40B4-BE49-F238E27FC236}">
                <a16:creationId xmlns:a16="http://schemas.microsoft.com/office/drawing/2014/main" id="{007F0774-5C89-48F8-8B17-5631C860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933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1543F4-11EF-4A54-824F-F17FF38B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9339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최근 업로드된 파일</a:t>
            </a:r>
          </a:p>
        </p:txBody>
      </p:sp>
      <p:sp>
        <p:nvSpPr>
          <p:cNvPr id="30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4B1191BE-9FE6-488D-A64F-8D5B0E95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53911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하단 목록에서 파일명·경로·작성자·크기·수정일을 확인합니다. 경로 링크로 문서함에 이동할 수 있고, 우측 검색·목록 표시 아이콘으로 필요한 항목을 찾는 화면 구성을 제공합니다.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B563A81-034A-4D0A-9315-69D45836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35D4F3-046E-4EF8-82B5-8E522586C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027078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4D67E1-C0E9-44F1-BDEB-29DE7EC2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5BA53E-4710-4BC1-BF4D-B43D3B2B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모든 문서함에서 업무 파일 정리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5056D9-2FE0-4AEF-8915-AC927815F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새 항목 메뉴와 파일 목록으로 문서의 기본 정보를 살펴봅니다.</a:t>
            </a:r>
          </a:p>
        </p:txBody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EDEA5B-C222-4F9B-9399-B4E38377C7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1c67f97f964f96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2A4F01-9CFF-4724-B322-1B1B975D1C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a9d6078f384215"/>
          <a:stretch xmlns:a="http://schemas.openxmlformats.org/drawingml/2006/main"/>
        </p:blipFill>
        <p:spPr>
          <a:xfrm xmlns:a="http://schemas.openxmlformats.org/drawingml/2006/main">
            <a:off x="704850" y="2238857"/>
            <a:ext cx="10287000" cy="5094911"/>
          </a:xfrm>
          <a:prstGeom xmlns:a="http://schemas.openxmlformats.org/drawingml/2006/main" prst="rect">
            <a:avLst/>
          </a:prstGeom>
        </p:spPr>
      </p:pic>
      <p:sp>
        <p:nvSpPr>
          <p:cNvPr id="23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2EEA15D5-E225-4018-8958-163146A2C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24" name="Callout 1">
            <a:extLst xmlns:a="http://schemas.openxmlformats.org/drawingml/2006/main">
              <a:ext uri="{FF2B5EF4-FFF2-40B4-BE49-F238E27FC236}">
                <a16:creationId xmlns:a16="http://schemas.microsoft.com/office/drawing/2014/main" id="{99627FCF-8891-47B8-8ADF-CC3D75F8F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54" y="2391084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5" name="Callout 1">
            <a:extLst xmlns:a="http://schemas.openxmlformats.org/drawingml/2006/main">
              <a:ext uri="{FF2B5EF4-FFF2-40B4-BE49-F238E27FC236}">
                <a16:creationId xmlns:a16="http://schemas.microsoft.com/office/drawing/2014/main" id="{475EF550-ECAF-4814-9342-6CE0143C9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AE8E75-1085-428E-B2C7-0E114235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새 폴더·새 파일</a:t>
            </a:r>
          </a:p>
        </p:txBody>
      </p:sp>
      <p:sp>
        <p:nvSpPr>
          <p:cNvPr id="27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20ECEAE1-0940-48AA-AB46-2B054E6E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문서함 상단에 새 폴더와 새 파일 메뉴가 있습니다. 좌측 업로드 메뉴는 폴더와 파일을 구분합니다. 실습 사본에서는 업로드나 새 문서 저장이 실행되지 않습니다.</a:t>
            </a:r>
          </a:p>
        </p:txBody>
      </p:sp>
      <p:sp>
        <p:nvSpPr>
          <p:cNvPr id="28" name="Callout 2">
            <a:extLst xmlns:a="http://schemas.openxmlformats.org/drawingml/2006/main">
              <a:ext uri="{FF2B5EF4-FFF2-40B4-BE49-F238E27FC236}">
                <a16:creationId xmlns:a16="http://schemas.microsoft.com/office/drawing/2014/main" id="{9D326355-567C-4107-BF89-84741328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54" y="3036624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9" name="Callout 2">
            <a:extLst xmlns:a="http://schemas.openxmlformats.org/drawingml/2006/main">
              <a:ext uri="{FF2B5EF4-FFF2-40B4-BE49-F238E27FC236}">
                <a16:creationId xmlns:a16="http://schemas.microsoft.com/office/drawing/2014/main" id="{AD6E293D-BA07-402C-8FA0-CCEB99F9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933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725E0F-E01E-4D5B-9079-AA9075F4F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9339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문서 목록과 찾기</a:t>
            </a:r>
          </a:p>
        </p:txBody>
      </p:sp>
      <p:sp>
        <p:nvSpPr>
          <p:cNvPr id="31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5DFF2ABD-6710-4435-950C-019434630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53911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파일명·작성자·크기·수정일·링크 열을 비교해 문서를 식별합니다. 상단 우측의 검색과 표시 메뉴를 함께 확인하고, 선택 상자로 작업 대상을 구분하는 구성을 살펴봅니다.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BCF5AC-3733-49B6-97E1-F72838D4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8C111E-126C-4D48-8551-BF7DD6CF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578497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9282D6-E8B1-492F-9B10-0D8A29E8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5A962A-AB56-43E3-A4DE-1CB66BF70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공유한 문서와 받은 문서를 구분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16E5EA-A2D7-4F5C-B590-F9EB5636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공유 문서함의 하위 메뉴에서 공유 방향과 링크를 나눠 봅니다.</a:t>
            </a:r>
          </a:p>
        </p:txBody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24E900-8D47-4882-8D11-07C9E8E80F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f747d483f2458d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06597A-0178-4BB9-8C05-05AEF60F28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313623949e4c06"/>
          <a:stretch xmlns:a="http://schemas.openxmlformats.org/drawingml/2006/main"/>
        </p:blipFill>
        <p:spPr>
          <a:xfrm xmlns:a="http://schemas.openxmlformats.org/drawingml/2006/main">
            <a:off x="704850" y="2238857"/>
            <a:ext cx="10287000" cy="5094911"/>
          </a:xfrm>
          <a:prstGeom xmlns:a="http://schemas.openxmlformats.org/drawingml/2006/main" prst="rect">
            <a:avLst/>
          </a:prstGeom>
        </p:spPr>
      </p:pic>
      <p:sp>
        <p:nvSpPr>
          <p:cNvPr id="23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777442EA-437F-4BB4-B464-8447E5EE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24" name="Callout 1">
            <a:extLst xmlns:a="http://schemas.openxmlformats.org/drawingml/2006/main">
              <a:ext uri="{FF2B5EF4-FFF2-40B4-BE49-F238E27FC236}">
                <a16:creationId xmlns:a16="http://schemas.microsoft.com/office/drawing/2014/main" id="{D614989B-C008-4789-8E72-AA6F04415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29003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5" name="Callout 1">
            <a:extLst xmlns:a="http://schemas.openxmlformats.org/drawingml/2006/main">
              <a:ext uri="{FF2B5EF4-FFF2-40B4-BE49-F238E27FC236}">
                <a16:creationId xmlns:a16="http://schemas.microsoft.com/office/drawing/2014/main" id="{1A750268-87FA-4925-9D1D-2F562B3D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C61526-6365-4F01-8F38-C7D35069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공유 방향 선택</a:t>
            </a:r>
          </a:p>
        </p:txBody>
      </p:sp>
      <p:sp>
        <p:nvSpPr>
          <p:cNvPr id="27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2064EF31-5EBC-423D-A54A-EE460EE1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공유 문서함 아래의 공유한 폴더/파일, 공유받은 폴더/파일, 공유링크 메뉴를 선택해 탐색합니다. 내가 제공한 항목과 전달받은 항목을 구분해 찾는 구조입니다.</a:t>
            </a:r>
          </a:p>
        </p:txBody>
      </p:sp>
      <p:sp>
        <p:nvSpPr>
          <p:cNvPr id="28" name="Callout 2">
            <a:extLst xmlns:a="http://schemas.openxmlformats.org/drawingml/2006/main">
              <a:ext uri="{FF2B5EF4-FFF2-40B4-BE49-F238E27FC236}">
                <a16:creationId xmlns:a16="http://schemas.microsoft.com/office/drawing/2014/main" id="{F3BD7140-47B2-4D91-8269-7BB691DE8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761" y="266873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9" name="Callout 2">
            <a:extLst xmlns:a="http://schemas.openxmlformats.org/drawingml/2006/main">
              <a:ext uri="{FF2B5EF4-FFF2-40B4-BE49-F238E27FC236}">
                <a16:creationId xmlns:a16="http://schemas.microsoft.com/office/drawing/2014/main" id="{E34A9A76-F4CE-4783-92A5-6EFF0284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933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6AF722-855B-40FF-8418-728121CBB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9339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공유 목록 확인</a:t>
            </a:r>
          </a:p>
        </p:txBody>
      </p:sp>
      <p:sp>
        <p:nvSpPr>
          <p:cNvPr id="31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41F494C3-1616-4BC4-9AE4-4D02730D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53911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목록의 이름·소유자·크기·수정일로 항목을 확인합니다. 현재 예시는 공유 항목이 없어 안내 문구가 표시됩니다. 빈 목록은 공유 기능 자체가 없다는 뜻이 아닙니다.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DF7D71-28DC-4522-A42C-99AFD014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91EFDB-B4B5-4285-8F19-744872B3D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0086645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1248C6-8979-473F-B1D1-12084BC5C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3F98A0-719E-47BC-BB32-BF8BFCF3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파일 요청 만들기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5E1718-AFDB-4E5A-B679-71337150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제출받을 파일의 제목·설명과 기한을 정해 새 요청을 만듭니다.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7F20FE-EEFA-4586-904B-79EF0D7358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5573e8c6034805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063D53-A025-49A0-AAC8-B67481DB65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53c91d99b04e94"/>
          <a:stretch xmlns:a="http://schemas.openxmlformats.org/drawingml/2006/main"/>
        </p:blipFill>
        <p:spPr>
          <a:xfrm xmlns:a="http://schemas.openxmlformats.org/drawingml/2006/main">
            <a:off x="706914" y="2238375"/>
            <a:ext cx="10282873" cy="50958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2271F7-F3CF-4D20-AE88-2AD8A048D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7" name="Callout 1">
            <a:extLst xmlns:a="http://schemas.openxmlformats.org/drawingml/2006/main">
              <a:ext uri="{FF2B5EF4-FFF2-40B4-BE49-F238E27FC236}">
                <a16:creationId xmlns:a16="http://schemas.microsoft.com/office/drawing/2014/main" id="{81AD0ED3-544D-44C2-9119-6AE18DAF3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5924" y="2938579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C73D2937-0C5D-4331-AE0A-F7BC53E1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8EB8EA-23D6-425F-9D9C-11937ECD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요청 내용 입력</a:t>
            </a:r>
          </a:p>
        </p:txBody>
      </p:sp>
      <p:sp>
        <p:nvSpPr>
          <p:cNvPr id="10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2536630C-ECB0-4579-8B5B-989DF4C8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공유 문서함 아래의 파일 요청에서 새 요청을 엽니다. 요청 제목은 필수이며, 설명란에는 제출할 파일과 안내 사항을 적습니다. 화면의 예시는 프로젝트 결과물과 검토 메모를 받는 요청입니다.</a:t>
            </a:r>
          </a:p>
        </p:txBody>
      </p:sp>
      <p:sp>
        <p:nvSpPr>
          <p:cNvPr id="11" name="Callout 2">
            <a:extLst xmlns:a="http://schemas.openxmlformats.org/drawingml/2006/main">
              <a:ext uri="{FF2B5EF4-FFF2-40B4-BE49-F238E27FC236}">
                <a16:creationId xmlns:a16="http://schemas.microsoft.com/office/drawing/2014/main" id="{CB4300B3-91DF-45F1-8AB5-BA6EB07C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5924" y="4691647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47D171AF-5FFF-40BB-9F09-CD827D61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933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314C30-B87A-43B8-8A41-33E4E494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9339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기한 설정과 생성</a:t>
            </a:r>
          </a:p>
        </p:txBody>
      </p:sp>
      <p:sp>
        <p:nvSpPr>
          <p:cNvPr id="14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2891AAC3-3B49-4F09-BE33-3582D828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53911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제출 기한을 선택하고 요청 생성을 누르면 목록에 새 요청이 추가됩니다. 요청 제목·기한·제출 건수·상태를 확인할 수 있습니다. 요청과 제출 정보는 현재 브라우저에만 유지됩니다.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8C5DD7-74E1-47D9-A0A8-6A7B1F08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285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파일 본문은 전송하지 않으며 요청·제출 정보는 현재 브라우저에만 저장됩니다.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FB919C-534D-4886-8AC3-70CA2F4A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8928477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46B6F8-0A81-4F3F-B2A3-11C66F8D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F9796A-31CD-4E24-B34A-9CB52E49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81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파일 제출과 접수 결과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788065-7DE7-4194-9E71-0A09780D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제출자와 파일을 선택하고, 접수된 항목과 제출 건수를 확인합니다.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C04378-F82F-4A55-81E9-7DF8258FBE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877996908242f3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ECE4BD-7EDA-4D71-90B2-ABB750EA43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327af6215a4f88"/>
          <a:stretch xmlns:a="http://schemas.openxmlformats.org/drawingml/2006/main"/>
        </p:blipFill>
        <p:spPr>
          <a:xfrm xmlns:a="http://schemas.openxmlformats.org/drawingml/2006/main">
            <a:off x="706914" y="2238375"/>
            <a:ext cx="10282873" cy="50958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38A300-32E1-4DBB-A128-1E28C505C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7" name="Callout 1">
            <a:extLst xmlns:a="http://schemas.openxmlformats.org/drawingml/2006/main">
              <a:ext uri="{FF2B5EF4-FFF2-40B4-BE49-F238E27FC236}">
                <a16:creationId xmlns:a16="http://schemas.microsoft.com/office/drawing/2014/main" id="{653D743D-6BA1-44A1-A4B6-85716370D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684" y="4446217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8" name="Callout 1">
            <a:extLst xmlns:a="http://schemas.openxmlformats.org/drawingml/2006/main">
              <a:ext uri="{FF2B5EF4-FFF2-40B4-BE49-F238E27FC236}">
                <a16:creationId xmlns:a16="http://schemas.microsoft.com/office/drawing/2014/main" id="{7357F786-A070-4E1E-9DD4-EF22687A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2C9F83-EFC3-492D-BC1E-7D62789A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제출자·파일 선택</a:t>
            </a:r>
          </a:p>
        </p:txBody>
      </p:sp>
      <p:sp>
        <p:nvSpPr>
          <p:cNvPr id="10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59A97BEA-2087-4C63-A429-B5CD9A35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요청을 선택한 뒤 제출자 이름과 파일을 지정합니다. 예시 파일 선택 버튼으로도 체험할 수 있으며 한 번에 최대 10개를 선택합니다.</a:t>
            </a:r>
          </a:p>
        </p:txBody>
      </p:sp>
      <p:sp>
        <p:nvSpPr>
          <p:cNvPr id="11" name="Callout 2">
            <a:extLst xmlns:a="http://schemas.openxmlformats.org/drawingml/2006/main">
              <a:ext uri="{FF2B5EF4-FFF2-40B4-BE49-F238E27FC236}">
                <a16:creationId xmlns:a16="http://schemas.microsoft.com/office/drawing/2014/main" id="{13240C1B-2D92-4822-BED6-00B248EE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433" y="6444714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Callout 2">
            <a:extLst xmlns:a="http://schemas.openxmlformats.org/drawingml/2006/main">
              <a:ext uri="{FF2B5EF4-FFF2-40B4-BE49-F238E27FC236}">
                <a16:creationId xmlns:a16="http://schemas.microsoft.com/office/drawing/2014/main" id="{67556A91-F2A9-41D1-8DDE-55F8049C6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057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C64846-E4BA-4ACE-B26B-96F47F64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0576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파일 제출</a:t>
            </a:r>
          </a:p>
        </p:txBody>
      </p:sp>
      <p:sp>
        <p:nvSpPr>
          <p:cNvPr id="14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5102D685-4290-412E-A790-8F6804C6D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45148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파일 제출을 누르면 해당 요청에 접수 내역이 추가됩니다. 파일 본문은 서버로 전송하거나 저장하지 않고 파일명·크기 등 제출 정보만 기록합니다.</a:t>
            </a:r>
          </a:p>
        </p:txBody>
      </p:sp>
      <p:sp>
        <p:nvSpPr>
          <p:cNvPr id="15" name="Callout 3">
            <a:extLst xmlns:a="http://schemas.openxmlformats.org/drawingml/2006/main">
              <a:ext uri="{FF2B5EF4-FFF2-40B4-BE49-F238E27FC236}">
                <a16:creationId xmlns:a16="http://schemas.microsoft.com/office/drawing/2014/main" id="{48DEE138-5144-412E-95CB-C0D47B60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1660" y="3920297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" name="Callout 3">
            <a:extLst xmlns:a="http://schemas.openxmlformats.org/drawingml/2006/main">
              <a:ext uri="{FF2B5EF4-FFF2-40B4-BE49-F238E27FC236}">
                <a16:creationId xmlns:a16="http://schemas.microsoft.com/office/drawing/2014/main" id="{517C06B5-D5F4-4B75-BDE6-7F3549EB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5810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4E8C81-3E72-4FE1-A002-362BD942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58102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접수 결과 확인</a:t>
            </a:r>
          </a:p>
        </p:txBody>
      </p:sp>
      <p:sp>
        <p:nvSpPr>
          <p:cNvPr id="18" name="Explanation body 14pt 3">
            <a:extLst xmlns:a="http://schemas.openxmlformats.org/drawingml/2006/main">
              <a:ext uri="{FF2B5EF4-FFF2-40B4-BE49-F238E27FC236}">
                <a16:creationId xmlns:a16="http://schemas.microsoft.com/office/drawing/2014/main" id="{3F92BAC4-3612-4647-A63D-1955D545E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2674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파일명·제출자·크기·시간과 제출 건수를 확인합니다. 결과는 현재 브라우저에 저장되며 새로고침 후에도 유지됩니다.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B7096B-26FB-4DE6-9327-C0B51873D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91475"/>
            <a:ext cx="1285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파일 본문은 전송하지 않으며 요청·제출 정보는 현재 브라우저에만 저장됩니다.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6EEEEF-3FAF-4960-BA9A-812BE584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159303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62D7DE-9D8F-4981-8DA4-B020BAB5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496627-F7DE-41D2-BA8A-6EA90CCD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기업 문서함으로 조직 문서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3A49E6-29AA-48E6-AEC2-A8F09E4BD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개인 문서함과 별도로 기업 문서의 목록을 확인하는 영역입니다.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B46F70-1E0C-478A-91DE-C631ACBF6A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8c9dd124494fbd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2FE50F-567D-4B55-A9A7-6E200C71E7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32c6fc15cc4313"/>
          <a:stretch xmlns:a="http://schemas.openxmlformats.org/drawingml/2006/main"/>
        </p:blipFill>
        <p:spPr>
          <a:xfrm xmlns:a="http://schemas.openxmlformats.org/drawingml/2006/main">
            <a:off x="704850" y="2238857"/>
            <a:ext cx="10287000" cy="5094911"/>
          </a:xfrm>
          <a:prstGeom xmlns:a="http://schemas.openxmlformats.org/drawingml/2006/main" prst="rect">
            <a:avLst/>
          </a:prstGeom>
        </p:spPr>
      </p:pic>
      <p:sp>
        <p:nvSpPr>
          <p:cNvPr id="20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D1D7223D-5927-4D4F-8CAE-C8F6A6D3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21" name="Callout 1">
            <a:extLst xmlns:a="http://schemas.openxmlformats.org/drawingml/2006/main">
              <a:ext uri="{FF2B5EF4-FFF2-40B4-BE49-F238E27FC236}">
                <a16:creationId xmlns:a16="http://schemas.microsoft.com/office/drawing/2014/main" id="{10AF53A6-FEF9-4BD2-852F-FD8724A49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06654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2" name="Callout 1">
            <a:extLst xmlns:a="http://schemas.openxmlformats.org/drawingml/2006/main">
              <a:ext uri="{FF2B5EF4-FFF2-40B4-BE49-F238E27FC236}">
                <a16:creationId xmlns:a16="http://schemas.microsoft.com/office/drawing/2014/main" id="{A714E65C-2CD0-4AF5-81D9-0261BB18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7D0058-D6FB-4E5E-BB86-774BB2132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기업 문서함 진입</a:t>
            </a:r>
          </a:p>
        </p:txBody>
      </p:sp>
      <p:sp>
        <p:nvSpPr>
          <p:cNvPr id="24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369D279C-546F-42FD-83CA-01FB1392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좌측 기업 문서함 메뉴에서 조직 문서 영역을 엽니다. 모든 문서함과 위치를 구분해 기업 단위 문서를 탐색하는 화면이며, 실제 접근 범위는 계정 권한에 따라 확인해야 합니다.</a:t>
            </a:r>
          </a:p>
        </p:txBody>
      </p:sp>
      <p:sp>
        <p:nvSpPr>
          <p:cNvPr id="25" name="Callout 2">
            <a:extLst xmlns:a="http://schemas.openxmlformats.org/drawingml/2006/main">
              <a:ext uri="{FF2B5EF4-FFF2-40B4-BE49-F238E27FC236}">
                <a16:creationId xmlns:a16="http://schemas.microsoft.com/office/drawing/2014/main" id="{3BB04748-27CB-457F-8FA4-9C352549A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761" y="266873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6" name="Callout 2">
            <a:extLst xmlns:a="http://schemas.openxmlformats.org/drawingml/2006/main">
              <a:ext uri="{FF2B5EF4-FFF2-40B4-BE49-F238E27FC236}">
                <a16:creationId xmlns:a16="http://schemas.microsoft.com/office/drawing/2014/main" id="{98BB212A-E542-4E06-87C2-82759276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933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4EC102-C146-4E0D-B696-7970868A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9339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목록과 빈 상태</a:t>
            </a:r>
          </a:p>
        </p:txBody>
      </p:sp>
      <p:sp>
        <p:nvSpPr>
          <p:cNvPr id="28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33C2A6F4-B0AA-4DC9-A465-9F44C1F3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53911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문서가 있으면 이름·소유자·수정일을 기준으로 살펴보는 목록입니다. 실습 화면에는 기업 문서함이 비어 있다는 안내가 표시되며, 실제 기업 문서를 포함하지 않습니다.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7D27BC-B0B0-45E9-93B9-AD425CBF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3C6D2D-BFD0-4254-98B9-F63456A64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997098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1A61ED-F2CF-45F9-A695-3AACE507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D48484-37D6-4F1F-A390-BA87747F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웹에서 찾은 정보를 클립북에 보관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96A2F3-407C-4B7D-9940-BC045A78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Chrome 확장 프로그램의 저장 흐름과 보관 위치를 안내합니다.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91B268-67EB-474A-9985-D8A72A65B1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639c7f20d4426c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443B73-74A7-4D88-9851-E7AEDD245D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51c1aa469b45b1"/>
          <a:stretch xmlns:a="http://schemas.openxmlformats.org/drawingml/2006/main"/>
        </p:blipFill>
        <p:spPr>
          <a:xfrm xmlns:a="http://schemas.openxmlformats.org/drawingml/2006/main">
            <a:off x="704850" y="2238857"/>
            <a:ext cx="10287000" cy="5094911"/>
          </a:xfrm>
          <a:prstGeom xmlns:a="http://schemas.openxmlformats.org/drawingml/2006/main" prst="rect">
            <a:avLst/>
          </a:prstGeom>
        </p:spPr>
      </p:pic>
      <p:sp>
        <p:nvSpPr>
          <p:cNvPr id="20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49283713-FB1D-4B7E-A51E-7F39F08D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21" name="Callout 1">
            <a:extLst xmlns:a="http://schemas.openxmlformats.org/drawingml/2006/main">
              <a:ext uri="{FF2B5EF4-FFF2-40B4-BE49-F238E27FC236}">
                <a16:creationId xmlns:a16="http://schemas.microsoft.com/office/drawing/2014/main" id="{CFBA9E07-1671-4695-9054-8443C8C3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3119" y="4424883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2" name="Callout 1">
            <a:extLst xmlns:a="http://schemas.openxmlformats.org/drawingml/2006/main">
              <a:ext uri="{FF2B5EF4-FFF2-40B4-BE49-F238E27FC236}">
                <a16:creationId xmlns:a16="http://schemas.microsoft.com/office/drawing/2014/main" id="{4A968158-6DF0-4D32-8854-ED48B6CC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124673-371E-4DEC-8B20-DB9C68E0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확장 프로그램 안내</a:t>
            </a:r>
          </a:p>
        </p:txBody>
      </p:sp>
      <p:sp>
        <p:nvSpPr>
          <p:cNvPr id="24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6AA0ABC9-2518-444F-A9C7-6608C051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클립북은 웹 콘텐츠를 클라우다이크에 저장하는 Chrome 확장 프로그램입니다. 화면의 다운로드·자세히 보기 메뉴에서 이용 안내를 확인하는 구조이며, 실습 사본의 외부 연결은 비활성화되어 있습니다.</a:t>
            </a:r>
          </a:p>
        </p:txBody>
      </p:sp>
      <p:sp>
        <p:nvSpPr>
          <p:cNvPr id="25" name="Callout 2">
            <a:extLst xmlns:a="http://schemas.openxmlformats.org/drawingml/2006/main">
              <a:ext uri="{FF2B5EF4-FFF2-40B4-BE49-F238E27FC236}">
                <a16:creationId xmlns:a16="http://schemas.microsoft.com/office/drawing/2014/main" id="{61B1036D-7B99-4333-A618-3379BBAD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3119" y="50496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6" name="Callout 2">
            <a:extLst xmlns:a="http://schemas.openxmlformats.org/drawingml/2006/main">
              <a:ext uri="{FF2B5EF4-FFF2-40B4-BE49-F238E27FC236}">
                <a16:creationId xmlns:a16="http://schemas.microsoft.com/office/drawing/2014/main" id="{A699A23D-99A9-4D6F-AA7C-7FC119E8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933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C7E779-D52F-4C61-9E72-89542E44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9339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저장 흐름과 확인 위치</a:t>
            </a:r>
          </a:p>
        </p:txBody>
      </p:sp>
      <p:sp>
        <p:nvSpPr>
          <p:cNvPr id="28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AE8FB8D0-32BA-4558-8101-15B6170D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53911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안내 순서는 확장 프로그램 설치, 웹 페이지에서 클립북 아이콘으로 저장, 모든 문서함의 ClipBook 폴더에서 확인입니다. 웹 스크랩·스크린샷·기사 저장 방식을 소개하며 이 화면에서 실제 저장을 실행하지 않습니다.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8D8209-2ACC-4F60-9E34-782379D3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5609B9-D467-4C64-91AB-4AD16066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0516945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EDF1E9-A86B-4199-80B4-3BF95988E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B3B756-402B-4EF1-8ADA-28B5D27EB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팀원·그룹·조직을 한곳에서 관리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A7575C-EC78-4D56-ABC0-182619806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관리 대상 선택과 구성원 목록, 팀원 등록 메뉴를 살펴봅니다.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328E92-9553-4028-95CD-14119BA279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763e2452094fb8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81781E-DC61-4208-BDB0-60A96EBA4D9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452822cd9d4d3d"/>
          <a:stretch xmlns:a="http://schemas.openxmlformats.org/drawingml/2006/main"/>
        </p:blipFill>
        <p:spPr>
          <a:xfrm xmlns:a="http://schemas.openxmlformats.org/drawingml/2006/main">
            <a:off x="704850" y="2238857"/>
            <a:ext cx="10287000" cy="5094911"/>
          </a:xfrm>
          <a:prstGeom xmlns:a="http://schemas.openxmlformats.org/drawingml/2006/main" prst="rect">
            <a:avLst/>
          </a:prstGeom>
        </p:spPr>
      </p:pic>
      <p:sp>
        <p:nvSpPr>
          <p:cNvPr id="14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751953AA-6F08-4D4D-AB2B-5D31C67D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15" name="Callout 1">
            <a:extLst xmlns:a="http://schemas.openxmlformats.org/drawingml/2006/main">
              <a:ext uri="{FF2B5EF4-FFF2-40B4-BE49-F238E27FC236}">
                <a16:creationId xmlns:a16="http://schemas.microsoft.com/office/drawing/2014/main" id="{DB131FAE-2817-4C8C-9427-BC48845F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54" y="2363318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" name="Callout 1">
            <a:extLst xmlns:a="http://schemas.openxmlformats.org/drawingml/2006/main">
              <a:ext uri="{FF2B5EF4-FFF2-40B4-BE49-F238E27FC236}">
                <a16:creationId xmlns:a16="http://schemas.microsoft.com/office/drawing/2014/main" id="{FE8B7ACC-A61B-43ED-A33D-BF098FAF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C99238-3A93-4451-89D0-152646FC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관리 대상 선택</a:t>
            </a:r>
          </a:p>
        </p:txBody>
      </p:sp>
      <p:sp>
        <p:nvSpPr>
          <p:cNvPr id="18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064DD752-D918-453B-9736-0D781960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상단의 모든 유저·그룹·조직도 탭으로 관리 대상을 전환합니다. 개별 구성원과 조직 구성을 구분해 탐색할 수 있습니다.</a:t>
            </a:r>
          </a:p>
        </p:txBody>
      </p:sp>
      <p:sp>
        <p:nvSpPr>
          <p:cNvPr id="19" name="Callout 2">
            <a:extLst xmlns:a="http://schemas.openxmlformats.org/drawingml/2006/main">
              <a:ext uri="{FF2B5EF4-FFF2-40B4-BE49-F238E27FC236}">
                <a16:creationId xmlns:a16="http://schemas.microsoft.com/office/drawing/2014/main" id="{A354AF62-7092-453F-AC2A-DB508AC0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54" y="274509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0" name="Callout 2">
            <a:extLst xmlns:a="http://schemas.openxmlformats.org/drawingml/2006/main">
              <a:ext uri="{FF2B5EF4-FFF2-40B4-BE49-F238E27FC236}">
                <a16:creationId xmlns:a16="http://schemas.microsoft.com/office/drawing/2014/main" id="{647AFA25-DE05-44E1-A451-C694724B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057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C19A53-281F-4DFA-BB58-8157B4BB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0576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팀원 등록 메뉴</a:t>
            </a:r>
          </a:p>
        </p:txBody>
      </p:sp>
      <p:sp>
        <p:nvSpPr>
          <p:cNvPr id="22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40F16DE5-D81B-4DE6-AA1D-D7415947B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45148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파일에서 사용자 업로드, 팀원 생성·초대 메뉴가 있습니다. 실습 사본에서는 실제 계정 등록이나 초대 전송을 실행하지 않습니다.</a:t>
            </a:r>
          </a:p>
        </p:txBody>
      </p:sp>
      <p:sp>
        <p:nvSpPr>
          <p:cNvPr id="23" name="Callout 3">
            <a:extLst xmlns:a="http://schemas.openxmlformats.org/drawingml/2006/main">
              <a:ext uri="{FF2B5EF4-FFF2-40B4-BE49-F238E27FC236}">
                <a16:creationId xmlns:a16="http://schemas.microsoft.com/office/drawing/2014/main" id="{7D52BF99-3EBA-4D64-9BAC-10BA280D2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54" y="3140743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4" name="Callout 3">
            <a:extLst xmlns:a="http://schemas.openxmlformats.org/drawingml/2006/main">
              <a:ext uri="{FF2B5EF4-FFF2-40B4-BE49-F238E27FC236}">
                <a16:creationId xmlns:a16="http://schemas.microsoft.com/office/drawing/2014/main" id="{6E3FD277-6A2F-4DFE-9D63-DC05FE83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5810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FB04CC-08DE-45C6-84CF-9CD2D223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58102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구성원 상태 확인</a:t>
            </a:r>
          </a:p>
        </p:txBody>
      </p:sp>
      <p:sp>
        <p:nvSpPr>
          <p:cNvPr id="26" name="Explanation body 14pt 3">
            <a:extLst xmlns:a="http://schemas.openxmlformats.org/drawingml/2006/main">
              <a:ext uri="{FF2B5EF4-FFF2-40B4-BE49-F238E27FC236}">
                <a16:creationId xmlns:a16="http://schemas.microsoft.com/office/drawing/2014/main" id="{16A2E34E-A5AB-4EB3-A044-AC5962B2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2674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이름·이메일, 사용 용량, 역할, 활성 상태, 최근 로그인과 세부권한을 목록에서 확인합니다. 이름과 이메일은 실습용 예시입니다.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DD5828-63D6-474C-8988-139A2EDD3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324F78-9F1E-476D-93A6-FA7D5C93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14720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CA75C2-36DD-4F17-8FF0-5CFFD7C1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56C22A-6DB0-4012-89D8-1CBA0C63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기업 정보와 계정 보안 항목 확인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33ECFD-2C43-468A-8AB2-A6C012301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기업설정 화면에서 일반 정보와 로그인 관련 설정을 구분합니다.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148AED-0079-4B85-BA32-6FF3F6ACDB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ae8fafcafc41f5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D6E955-2D88-4E8C-A4FD-F77BA29FA3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60a56579448c7"/>
          <a:stretch xmlns:a="http://schemas.openxmlformats.org/drawingml/2006/main"/>
        </p:blipFill>
        <p:spPr>
          <a:xfrm xmlns:a="http://schemas.openxmlformats.org/drawingml/2006/main">
            <a:off x="704850" y="2239122"/>
            <a:ext cx="10287000" cy="5094381"/>
          </a:xfrm>
          <a:prstGeom xmlns:a="http://schemas.openxmlformats.org/drawingml/2006/main" prst="rect">
            <a:avLst/>
          </a:prstGeom>
        </p:spPr>
      </p:pic>
      <p:sp>
        <p:nvSpPr>
          <p:cNvPr id="20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462B4D1A-C88B-419B-BDC5-688013A7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21" name="Callout 1">
            <a:extLst xmlns:a="http://schemas.openxmlformats.org/drawingml/2006/main">
              <a:ext uri="{FF2B5EF4-FFF2-40B4-BE49-F238E27FC236}">
                <a16:creationId xmlns:a16="http://schemas.microsoft.com/office/drawing/2014/main" id="{0AEF3417-37EE-4098-AEEA-74449ED9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761" y="2529909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2" name="Callout 1">
            <a:extLst xmlns:a="http://schemas.openxmlformats.org/drawingml/2006/main">
              <a:ext uri="{FF2B5EF4-FFF2-40B4-BE49-F238E27FC236}">
                <a16:creationId xmlns:a16="http://schemas.microsoft.com/office/drawing/2014/main" id="{D4BCA69E-0CFD-4C69-B34C-08E79F5D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7FDF03-5707-4C87-8783-82743C58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기업 일반 설정</a:t>
            </a:r>
          </a:p>
        </p:txBody>
      </p:sp>
      <p:sp>
        <p:nvSpPr>
          <p:cNvPr id="24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11A19CF7-EEC9-4CC5-AC20-8A805A02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왼쪽 영역은 기업명·도메인·로고와 공지·서비스 이용 동의, 트래픽 알림 등의 항목입니다. 조직 정보를 관리하는 위치를 확인할 수 있으며, 화면 아래로 추가 설정이 이어집니다.</a:t>
            </a:r>
          </a:p>
        </p:txBody>
      </p:sp>
      <p:sp>
        <p:nvSpPr>
          <p:cNvPr id="25" name="Callout 2">
            <a:extLst xmlns:a="http://schemas.openxmlformats.org/drawingml/2006/main">
              <a:ext uri="{FF2B5EF4-FFF2-40B4-BE49-F238E27FC236}">
                <a16:creationId xmlns:a16="http://schemas.microsoft.com/office/drawing/2014/main" id="{0CA8A45A-2047-48D5-8D28-EECE154A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115" y="2529909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6" name="Callout 2">
            <a:extLst xmlns:a="http://schemas.openxmlformats.org/drawingml/2006/main">
              <a:ext uri="{FF2B5EF4-FFF2-40B4-BE49-F238E27FC236}">
                <a16:creationId xmlns:a16="http://schemas.microsoft.com/office/drawing/2014/main" id="{D850A6C1-A9BB-455C-BCEA-ECC96FD90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933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9071F8-A459-444C-9A02-C2B20622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9339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계정 보안 설정</a:t>
            </a:r>
          </a:p>
        </p:txBody>
      </p:sp>
      <p:sp>
        <p:nvSpPr>
          <p:cNvPr id="28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133325AF-1907-47EA-AAD5-C23192CC7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53911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오른쪽 영역에서 Email·LDAP 로그인 방식, 자동 로그아웃, 비밀번호 유효기간·재사용 허용과 신규 사용자 기본 저장 용량을 확인합니다. 실습 사본에서는 변경 사항을 실제 계정에 저장하지 않습니다.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2B12BC-42A3-475B-AEA6-A2C57E6C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F9108C-D64C-4D66-9310-F7D6A1B0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8355070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DDE3AB-0A03-4AF0-ACA9-3672B69B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A682B2-1345-435A-8812-45DB079C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활동로그에서 문서 작업 이력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2A007D-74F2-4E59-AF66-D50FC095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조회 조건과 로그 열을 함께 보며 어떤 활동이 있었는지 살펴봅니다.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89BA0F-AF55-4A87-B0A4-AC209B79B9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765d9cbf474990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5B6306-4CD0-4D8B-B2AE-3ADCC62D55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abd61ba29b4447"/>
          <a:stretch xmlns:a="http://schemas.openxmlformats.org/drawingml/2006/main"/>
        </p:blipFill>
        <p:spPr>
          <a:xfrm xmlns:a="http://schemas.openxmlformats.org/drawingml/2006/main">
            <a:off x="704850" y="2239122"/>
            <a:ext cx="10287000" cy="5094381"/>
          </a:xfrm>
          <a:prstGeom xmlns:a="http://schemas.openxmlformats.org/drawingml/2006/main" prst="rect">
            <a:avLst/>
          </a:prstGeom>
        </p:spPr>
      </p:pic>
      <p:sp>
        <p:nvSpPr>
          <p:cNvPr id="14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E2C25AB8-118E-4AFD-9269-975CFA40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15" name="Callout 1">
            <a:extLst xmlns:a="http://schemas.openxmlformats.org/drawingml/2006/main">
              <a:ext uri="{FF2B5EF4-FFF2-40B4-BE49-F238E27FC236}">
                <a16:creationId xmlns:a16="http://schemas.microsoft.com/office/drawing/2014/main" id="{16DACDFD-7073-4805-8B68-126A2446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54" y="2363318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" name="Callout 1">
            <a:extLst xmlns:a="http://schemas.openxmlformats.org/drawingml/2006/main">
              <a:ext uri="{FF2B5EF4-FFF2-40B4-BE49-F238E27FC236}">
                <a16:creationId xmlns:a16="http://schemas.microsoft.com/office/drawing/2014/main" id="{AC55C8EC-077F-4440-81ED-BACFB1F1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F04860-4C54-4FD7-BBA8-4486491C4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기간·유형 조건</a:t>
            </a:r>
          </a:p>
        </p:txBody>
      </p:sp>
      <p:sp>
        <p:nvSpPr>
          <p:cNvPr id="18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07F3BBFA-0074-4415-9A53-411B63F85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상단 유형 선택과 시작일·종료일에서 조회 조건을 확인합니다. 원하는 기간과 활동 종류를 기준으로 이력을 살펴보는 화면입니다.</a:t>
            </a:r>
          </a:p>
        </p:txBody>
      </p:sp>
      <p:sp>
        <p:nvSpPr>
          <p:cNvPr id="19" name="Callout 2">
            <a:extLst xmlns:a="http://schemas.openxmlformats.org/drawingml/2006/main">
              <a:ext uri="{FF2B5EF4-FFF2-40B4-BE49-F238E27FC236}">
                <a16:creationId xmlns:a16="http://schemas.microsoft.com/office/drawing/2014/main" id="{540FF0C6-8A15-458F-9C1B-BB400376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54" y="2890857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0" name="Callout 2">
            <a:extLst xmlns:a="http://schemas.openxmlformats.org/drawingml/2006/main">
              <a:ext uri="{FF2B5EF4-FFF2-40B4-BE49-F238E27FC236}">
                <a16:creationId xmlns:a16="http://schemas.microsoft.com/office/drawing/2014/main" id="{50E7BB61-D30A-40B2-852C-4F9DDEB2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057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99783B-775A-4AD5-82C3-8DC7A385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0576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활동 상세 목록</a:t>
            </a:r>
          </a:p>
        </p:txBody>
      </p:sp>
      <p:sp>
        <p:nvSpPr>
          <p:cNvPr id="22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597E3C8A-AB63-4E90-8CB8-EBE66FE8C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45148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날짜·활동 로그·경로·크기·IP 열로 로그인과 파일 추가·조회 이력을 비교합니다. 표시된 문서명과 IP 주소는 예시 데이터입니다.</a:t>
            </a:r>
          </a:p>
        </p:txBody>
      </p:sp>
      <p:sp>
        <p:nvSpPr>
          <p:cNvPr id="23" name="Callout 3">
            <a:extLst xmlns:a="http://schemas.openxmlformats.org/drawingml/2006/main">
              <a:ext uri="{FF2B5EF4-FFF2-40B4-BE49-F238E27FC236}">
                <a16:creationId xmlns:a16="http://schemas.microsoft.com/office/drawing/2014/main" id="{D1206246-FB48-4932-BF96-8834E9966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3757" y="2363318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4" name="Callout 3">
            <a:extLst xmlns:a="http://schemas.openxmlformats.org/drawingml/2006/main">
              <a:ext uri="{FF2B5EF4-FFF2-40B4-BE49-F238E27FC236}">
                <a16:creationId xmlns:a16="http://schemas.microsoft.com/office/drawing/2014/main" id="{13F1D4C6-5A9D-4664-BD5F-AFBF0629E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5810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8CDDE1-2C92-4BBC-8C16-9A0637F1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58102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로그 내려받기</a:t>
            </a:r>
          </a:p>
        </p:txBody>
      </p:sp>
      <p:sp>
        <p:nvSpPr>
          <p:cNvPr id="26" name="Explanation body 14pt 3">
            <a:extLst xmlns:a="http://schemas.openxmlformats.org/drawingml/2006/main">
              <a:ext uri="{FF2B5EF4-FFF2-40B4-BE49-F238E27FC236}">
                <a16:creationId xmlns:a16="http://schemas.microsoft.com/office/drawing/2014/main" id="{53EF0EF0-E40C-4DD7-AA18-40EFDA68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2674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상단 다운로드 메뉴는 활동 이력을 내려받는 위치입니다. 실습 사본에서는 실제 운영 로그를 추출하거나 외부로 전송하지 않습니다.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4642D4-BC0D-4187-9EF7-A72FA642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C7DDF4-1290-4EB2-B72B-F6DE08D4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131276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48428D-49D7-4C4A-A2C7-DAE445A7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7F2031-CA35-40F9-9EB1-9ADFA730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백업과 아카이브의 상태를 구분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264380-4B8A-48D2-9842-D8316F63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사용 용량, 서비스 탭과 작업 목록을 한 화면에서 살펴봅니다.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BE04A4-6D64-4EDC-BA2E-111662A7EB2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aaa25876594005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AFE0A2-6322-48D2-B9F7-0E80233120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ed8756f0694dbf"/>
          <a:stretch xmlns:a="http://schemas.openxmlformats.org/drawingml/2006/main"/>
        </p:blipFill>
        <p:spPr>
          <a:xfrm xmlns:a="http://schemas.openxmlformats.org/drawingml/2006/main">
            <a:off x="704850" y="2238857"/>
            <a:ext cx="10287000" cy="5094911"/>
          </a:xfrm>
          <a:prstGeom xmlns:a="http://schemas.openxmlformats.org/drawingml/2006/main" prst="rect">
            <a:avLst/>
          </a:prstGeom>
        </p:spPr>
      </p:pic>
      <p:sp>
        <p:nvSpPr>
          <p:cNvPr id="13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41536B71-9F4B-4B98-B5DD-EA603CB9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14" name="Callout 1">
            <a:extLst xmlns:a="http://schemas.openxmlformats.org/drawingml/2006/main">
              <a:ext uri="{FF2B5EF4-FFF2-40B4-BE49-F238E27FC236}">
                <a16:creationId xmlns:a16="http://schemas.microsoft.com/office/drawing/2014/main" id="{408B6AE4-0A0C-4630-BF56-C2845AF0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761" y="2411907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5" name="Callout 1">
            <a:extLst xmlns:a="http://schemas.openxmlformats.org/drawingml/2006/main">
              <a:ext uri="{FF2B5EF4-FFF2-40B4-BE49-F238E27FC236}">
                <a16:creationId xmlns:a16="http://schemas.microsoft.com/office/drawing/2014/main" id="{A729875B-39CC-475D-A8C6-1BA6C4E9D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BF37F3-2BB8-470F-8013-F5FC888A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용량 현황</a:t>
            </a:r>
          </a:p>
        </p:txBody>
      </p:sp>
      <p:sp>
        <p:nvSpPr>
          <p:cNvPr id="17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05D994E1-FB00-462B-99C5-006765F0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사용 중인 용량, 백업·아카이브 사용량과 사용 가능한 용량을 비교합니다. 별도 가격의 부가 서비스로 안내되므로 실제 이용 조건을 확인해야 합니다.</a:t>
            </a:r>
          </a:p>
        </p:txBody>
      </p:sp>
      <p:sp>
        <p:nvSpPr>
          <p:cNvPr id="18" name="Callout 2">
            <a:extLst xmlns:a="http://schemas.openxmlformats.org/drawingml/2006/main">
              <a:ext uri="{FF2B5EF4-FFF2-40B4-BE49-F238E27FC236}">
                <a16:creationId xmlns:a16="http://schemas.microsoft.com/office/drawing/2014/main" id="{5B60D956-30F1-4B38-85C2-1E6020CF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6176" y="341839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" name="Callout 2">
            <a:extLst xmlns:a="http://schemas.openxmlformats.org/drawingml/2006/main">
              <a:ext uri="{FF2B5EF4-FFF2-40B4-BE49-F238E27FC236}">
                <a16:creationId xmlns:a16="http://schemas.microsoft.com/office/drawing/2014/main" id="{EF675C97-9F20-4988-ABFB-604FEA68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057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C4FB2D-B7CE-4CA4-983A-88F3784B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0576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백업·아카이브 선택</a:t>
            </a:r>
          </a:p>
        </p:txBody>
      </p:sp>
      <p:sp>
        <p:nvSpPr>
          <p:cNvPr id="21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ABAB34B7-792E-44E1-A716-F308D51E8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45148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백업·아카이브 탭으로 목록을 전환합니다. 신규 백업 메뉴에서 작업을 시작하는 구조이며, 실습 사본에서는 실제 백업을 생성하지 않습니다.</a:t>
            </a:r>
          </a:p>
        </p:txBody>
      </p:sp>
      <p:sp>
        <p:nvSpPr>
          <p:cNvPr id="22" name="Callout 3">
            <a:extLst xmlns:a="http://schemas.openxmlformats.org/drawingml/2006/main">
              <a:ext uri="{FF2B5EF4-FFF2-40B4-BE49-F238E27FC236}">
                <a16:creationId xmlns:a16="http://schemas.microsoft.com/office/drawing/2014/main" id="{3EA07BAA-9C51-4E2D-84CA-E3A2A119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761" y="4424883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3" name="Callout 3">
            <a:extLst xmlns:a="http://schemas.openxmlformats.org/drawingml/2006/main">
              <a:ext uri="{FF2B5EF4-FFF2-40B4-BE49-F238E27FC236}">
                <a16:creationId xmlns:a16="http://schemas.microsoft.com/office/drawing/2014/main" id="{0CC6C6D8-8C67-484E-BB9B-38072323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5810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01544A-CEC3-44B1-8E75-01F45227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58102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작업 목록 확인</a:t>
            </a:r>
          </a:p>
        </p:txBody>
      </p:sp>
      <p:sp>
        <p:nvSpPr>
          <p:cNvPr id="25" name="Explanation body 14pt 3">
            <a:extLst xmlns:a="http://schemas.openxmlformats.org/drawingml/2006/main">
              <a:ext uri="{FF2B5EF4-FFF2-40B4-BE49-F238E27FC236}">
                <a16:creationId xmlns:a16="http://schemas.microsoft.com/office/drawing/2014/main" id="{B3589633-D0A2-4C40-A661-BAD2EC3A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2674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날짜·경로·소유자·크기·백업 주기를 확인하는 목록입니다. 현재는 진행 중인 백업이 없다는 상태가 표시됩니다. 화면의 용량은 실제 계약 조건과 구분합니다.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5946EA-C538-426E-B272-1F3CE16D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6AF97A-6724-48F2-8CB8-E24F0670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6354682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5CDF9E-8A9B-4E1A-86D8-B85660917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9393FF-8760-4C6B-A386-F41B8AEA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개인설정에서 계정과 연동 앱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FAD6D3-CB95-4017-9931-22894C91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사용자 정보, 로그인 설정과 PC·브라우저 연동 안내를 제공합니다.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8A8206-515A-4381-804C-A9CC1561AD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6c172ad4fa4ead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AE3A64-77AC-4BE0-8D11-594043B3AD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eab606d00d4426"/>
          <a:stretch xmlns:a="http://schemas.openxmlformats.org/drawingml/2006/main"/>
        </p:blipFill>
        <p:spPr>
          <a:xfrm xmlns:a="http://schemas.openxmlformats.org/drawingml/2006/main">
            <a:off x="704850" y="2238857"/>
            <a:ext cx="10287000" cy="5094911"/>
          </a:xfrm>
          <a:prstGeom xmlns:a="http://schemas.openxmlformats.org/drawingml/2006/main" prst="rect">
            <a:avLst/>
          </a:prstGeom>
        </p:spPr>
      </p:pic>
      <p:sp>
        <p:nvSpPr>
          <p:cNvPr id="19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9D39D07E-7156-4B41-ACF8-6D6B1A54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20" name="Callout 1">
            <a:extLst xmlns:a="http://schemas.openxmlformats.org/drawingml/2006/main">
              <a:ext uri="{FF2B5EF4-FFF2-40B4-BE49-F238E27FC236}">
                <a16:creationId xmlns:a16="http://schemas.microsoft.com/office/drawing/2014/main" id="{EF92BDF5-797B-4FC1-9BF2-7D5F8748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761" y="2432731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1" name="Callout 1">
            <a:extLst xmlns:a="http://schemas.openxmlformats.org/drawingml/2006/main">
              <a:ext uri="{FF2B5EF4-FFF2-40B4-BE49-F238E27FC236}">
                <a16:creationId xmlns:a16="http://schemas.microsoft.com/office/drawing/2014/main" id="{AD567745-18A4-4B4F-9463-8BE4E7A4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C5977C-CAC5-484C-A269-7587409E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사용자 정보</a:t>
            </a:r>
          </a:p>
        </p:txBody>
      </p:sp>
      <p:sp>
        <p:nvSpPr>
          <p:cNvPr id="23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43F4B362-B822-4595-839A-972FD678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왼쪽 일반 설정에서 이름·이메일·알림·사용 언어와 추천인 링크를 확인합니다. 실습 화면의 계정 정보는 예시이며 실제 개인정보를 포함하지 않습니다.</a:t>
            </a:r>
          </a:p>
        </p:txBody>
      </p:sp>
      <p:sp>
        <p:nvSpPr>
          <p:cNvPr id="24" name="Callout 2">
            <a:extLst xmlns:a="http://schemas.openxmlformats.org/drawingml/2006/main">
              <a:ext uri="{FF2B5EF4-FFF2-40B4-BE49-F238E27FC236}">
                <a16:creationId xmlns:a16="http://schemas.microsoft.com/office/drawing/2014/main" id="{0CF0FFE2-B5F6-452E-B6E4-880C88CC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115" y="2432731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5" name="Callout 2">
            <a:extLst xmlns:a="http://schemas.openxmlformats.org/drawingml/2006/main">
              <a:ext uri="{FF2B5EF4-FFF2-40B4-BE49-F238E27FC236}">
                <a16:creationId xmlns:a16="http://schemas.microsoft.com/office/drawing/2014/main" id="{70BAB7AB-EE2D-48AA-B36F-2FE1DCEDF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057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E78356-E0B4-4D10-8A36-3CF67DDA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0576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로그인 및 기기설정</a:t>
            </a:r>
          </a:p>
        </p:txBody>
      </p:sp>
      <p:sp>
        <p:nvSpPr>
          <p:cNvPr id="27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6F591580-C9E3-47E3-BA63-1C7566B7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45148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가운데 계정 보안 영역에서 로그인 허용 이메일 추가 항목을 살펴봅니다. 실제 로그인 설정 변경은 실습 사본에 반영되지 않습니다.</a:t>
            </a:r>
          </a:p>
        </p:txBody>
      </p:sp>
      <p:sp>
        <p:nvSpPr>
          <p:cNvPr id="28" name="Callout 3">
            <a:extLst xmlns:a="http://schemas.openxmlformats.org/drawingml/2006/main">
              <a:ext uri="{FF2B5EF4-FFF2-40B4-BE49-F238E27FC236}">
                <a16:creationId xmlns:a16="http://schemas.microsoft.com/office/drawing/2014/main" id="{87C439A6-E2A8-4811-AA23-726462A1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2633" y="2432731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9" name="Callout 3">
            <a:extLst xmlns:a="http://schemas.openxmlformats.org/drawingml/2006/main">
              <a:ext uri="{FF2B5EF4-FFF2-40B4-BE49-F238E27FC236}">
                <a16:creationId xmlns:a16="http://schemas.microsoft.com/office/drawing/2014/main" id="{BD3B3DBD-3D20-48E6-BB4C-C726C96F5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5810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B22BB4-7B74-4C9C-BEF3-65501E6E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58102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PC 앱과 클립북</a:t>
            </a:r>
          </a:p>
        </p:txBody>
      </p:sp>
      <p:sp>
        <p:nvSpPr>
          <p:cNvPr id="31" name="Explanation body 14pt 3">
            <a:extLst xmlns:a="http://schemas.openxmlformats.org/drawingml/2006/main">
              <a:ext uri="{FF2B5EF4-FFF2-40B4-BE49-F238E27FC236}">
                <a16:creationId xmlns:a16="http://schemas.microsoft.com/office/drawing/2014/main" id="{A7776594-8D73-4D5E-A4AD-A66C74DE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2674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PC클라이언트·클다스트림과 Windows·Mac 다운로드, 클립북 안내를 확인합니다. 두 PC 앱의 동시 사용에 대한 주의 문구도 함께 살펴봅니다.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ED70DD6-4515-4EA7-A1E0-E852BC6B5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936FED-4254-4E50-BEAF-EFF246FC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9010871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3FAB45-7082-407F-BDDB-E85F8B5D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31BB8A-858E-49D0-97E9-28805DAD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실습 앱에서 주요 메뉴를 둘러보세요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8930A5-1171-4D4A-9D4C-939F05DD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화면 번호와 설명을 함께 보며 문서 관리·파일 요청에서 운영 메뉴까지 확인합니다.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3438ED-20FB-41C4-8C50-056612ADEB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ec09ee6fac4922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graphicFrame>
        <p:nvGraphicFrame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59CBF0-6136-40F1-B241-B99FD7D41780}"/>
              </a:ext>
            </a:extLst>
          </p:cNvPr>
          <p:cNvGraphicFramePr/>
          <p:nvPr/>
        </p:nvGraphicFramePr>
        <p:xfrm>
          <a:off xmlns:a="http://schemas.openxmlformats.org/drawingml/2006/main" x="762000" y="2238375"/>
          <a:ext xmlns:a="http://schemas.openxmlformats.org/drawingml/2006/main" cx="13716000" cy="3286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10858500"/>
              </a:tblGrid>
              <a:tr h="6572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영역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D4D4D4"/>
                      </a:solidFill>
                      <a:prstDash val="solid"/>
                    </a:lnT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6751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살펴볼 메뉴와 확인 사항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D4D4D4"/>
                      </a:solidFill>
                      <a:prstDash val="solid"/>
                    </a:lnT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67519E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관리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모든 문서함 · 공유 문서함 · 기업 문서함 · 클립북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운영 관리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팀원·그룹·조직도 · 기업설정 · 활동로그 · 개인설정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백업과 보관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백업 · 아카이브 · 즐겨찾기 · 휴지통 메뉴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실습 사본 범위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메뉴 탐색과 예시 화면 제공. 업로드·삭제·설정 저장·결제는 실행되지 않음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</a:tr>
            </a:tbl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67DC06-7493-4C6B-8543-CB19E26A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실습 앱  acmexii.github.io/cloudikehome/app/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FA5E0-41D6-437C-94DF-7941E6A3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62750"/>
            <a:ext cx="13620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전자결재는 화면에 PROFESSIONAL 요금제부터 사용 가능으로 안내됩니다.</a:t>
            </a:r>
          </a:p>
          <a:p xmlns:a="http://schemas.openxmlformats.org/drawingml/2006/main">
            <a:pPr>
              <a:buNone/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실제 요금·권한·부가 서비스 조건은 공식 안내와 계약 내용을 확인해 주세요.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00F424-BABB-4945-9F99-4CD9DB62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991475"/>
            <a:ext cx="1285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클라우다이크 앱 기능소개 · 2026.10 개정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2E6935-B351-459A-A85F-D91C629A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87603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2026-10-25T07:55:27.2530000Z</dcterms:created>
  <dcterms:modified xsi:type="dcterms:W3CDTF">2026-10-25T07:55:27.2540000Z</dcterms:modified>
</coreProperties>
</file>