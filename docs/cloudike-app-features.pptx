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014456c600b4b0f" /><Relationship Type="http://schemas.openxmlformats.org/officeDocument/2006/relationships/extended-properties" Target="/docProps/app.xml" Id="R052421faec724b23" /><Relationship Type="http://schemas.openxmlformats.org/officeDocument/2006/relationships/officeDocument" Target="/ppt/presentation.xml" Id="R0d182febdf23414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252ef4f75db4c75"/>
  </p:sldMasterIdLst>
  <p:notesMasterIdLst>
    <p:notesMasterId xmlns:r="http://schemas.openxmlformats.org/officeDocument/2006/relationships" r:id="Rb915e5aeada24487"/>
  </p:notesMasterIdLst>
  <p:sldIdLst>
    <p:sldId xmlns:r="http://schemas.openxmlformats.org/officeDocument/2006/relationships" id="256" r:id="R9831b5bdaa704f52"/>
    <p:sldId xmlns:r="http://schemas.openxmlformats.org/officeDocument/2006/relationships" id="257" r:id="R91563f03214a4398"/>
    <p:sldId xmlns:r="http://schemas.openxmlformats.org/officeDocument/2006/relationships" id="258" r:id="R5a719391746e4752"/>
    <p:sldId xmlns:r="http://schemas.openxmlformats.org/officeDocument/2006/relationships" id="259" r:id="R3d33941394294f91"/>
    <p:sldId xmlns:r="http://schemas.openxmlformats.org/officeDocument/2006/relationships" id="260" r:id="R2ade6b4e66b045d7"/>
    <p:sldId xmlns:r="http://schemas.openxmlformats.org/officeDocument/2006/relationships" id="261" r:id="R7b2ea0b92f86493e"/>
    <p:sldId xmlns:r="http://schemas.openxmlformats.org/officeDocument/2006/relationships" id="262" r:id="R850ee29bf5584302"/>
    <p:sldId xmlns:r="http://schemas.openxmlformats.org/officeDocument/2006/relationships" id="263" r:id="R9b2326cd2d274b50"/>
    <p:sldId xmlns:r="http://schemas.openxmlformats.org/officeDocument/2006/relationships" id="264" r:id="R9259dcb4ca80485b"/>
    <p:sldId xmlns:r="http://schemas.openxmlformats.org/officeDocument/2006/relationships" id="265" r:id="Rfca05744ae3e4018"/>
    <p:sldId xmlns:r="http://schemas.openxmlformats.org/officeDocument/2006/relationships" id="266" r:id="R460d745525dd4264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5ebd12c975548b1" /><Relationship Type="http://schemas.openxmlformats.org/officeDocument/2006/relationships/slideMaster" Target="/ppt/slideMasters/slideMaster1.xml" Id="Rf252ef4f75db4c75" /><Relationship Type="http://schemas.openxmlformats.org/officeDocument/2006/relationships/notesMaster" Target="/ppt/notesMasters/notesMaster1.xml" Id="Rb915e5aeada24487" /><Relationship Type="http://schemas.openxmlformats.org/officeDocument/2006/relationships/presProps" Target="/ppt/presProps.xml" Id="R408d19d77fbf45be" /><Relationship Type="http://schemas.openxmlformats.org/officeDocument/2006/relationships/tableStyles" Target="/ppt/tableStyles.xml" Id="Rbf1e16bde794416b" /><Relationship Type="http://schemas.openxmlformats.org/officeDocument/2006/relationships/slide" Target="/ppt/slides/slide1.xml" Id="R9831b5bdaa704f52" /><Relationship Type="http://schemas.openxmlformats.org/officeDocument/2006/relationships/slide" Target="/ppt/slides/slide2.xml" Id="R91563f03214a4398" /><Relationship Type="http://schemas.openxmlformats.org/officeDocument/2006/relationships/slide" Target="/ppt/slides/slide3.xml" Id="R5a719391746e4752" /><Relationship Type="http://schemas.openxmlformats.org/officeDocument/2006/relationships/slide" Target="/ppt/slides/slide4.xml" Id="R3d33941394294f91" /><Relationship Type="http://schemas.openxmlformats.org/officeDocument/2006/relationships/slide" Target="/ppt/slides/slide5.xml" Id="R2ade6b4e66b045d7" /><Relationship Type="http://schemas.openxmlformats.org/officeDocument/2006/relationships/slide" Target="/ppt/slides/slide6.xml" Id="R7b2ea0b92f86493e" /><Relationship Type="http://schemas.openxmlformats.org/officeDocument/2006/relationships/slide" Target="/ppt/slides/slide7.xml" Id="R850ee29bf5584302" /><Relationship Type="http://schemas.openxmlformats.org/officeDocument/2006/relationships/slide" Target="/ppt/slides/slide8.xml" Id="R9b2326cd2d274b50" /><Relationship Type="http://schemas.openxmlformats.org/officeDocument/2006/relationships/slide" Target="/ppt/slides/slide9.xml" Id="R9259dcb4ca80485b" /><Relationship Type="http://schemas.openxmlformats.org/officeDocument/2006/relationships/slide" Target="/ppt/slides/slide10.xml" Id="Rfca05744ae3e4018" /><Relationship Type="http://schemas.openxmlformats.org/officeDocument/2006/relationships/slide" Target="/ppt/slides/slide11.xml" Id="R460d745525dd426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b460a7fcc774ef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9828a9cc1194342" /><Relationship Type="http://schemas.openxmlformats.org/officeDocument/2006/relationships/notesMaster" Target="/ppt/notesMasters/notesMaster1.xml" Id="Re1d5d2fc814e448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7648c40208b4b85" /><Relationship Type="http://schemas.openxmlformats.org/officeDocument/2006/relationships/notesMaster" Target="/ppt/notesMasters/notesMaster1.xml" Id="R002597b351074de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59def2c5d344c17" /><Relationship Type="http://schemas.openxmlformats.org/officeDocument/2006/relationships/notesMaster" Target="/ppt/notesMasters/notesMaster1.xml" Id="R2b69deab00ca4ff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7b50d63e6034ef9" /><Relationship Type="http://schemas.openxmlformats.org/officeDocument/2006/relationships/notesMaster" Target="/ppt/notesMasters/notesMaster1.xml" Id="R6d913840675943a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ee20c67dea44204" /><Relationship Type="http://schemas.openxmlformats.org/officeDocument/2006/relationships/notesMaster" Target="/ppt/notesMasters/notesMaster1.xml" Id="R78cbaf5bd589412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56b7bce97bf4804" /><Relationship Type="http://schemas.openxmlformats.org/officeDocument/2006/relationships/notesMaster" Target="/ppt/notesMasters/notesMaster1.xml" Id="Rfe6e1c0c33b6440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05775f55b6f4017" /><Relationship Type="http://schemas.openxmlformats.org/officeDocument/2006/relationships/notesMaster" Target="/ppt/notesMasters/notesMaster1.xml" Id="Re103f205d90745a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2522bb0da424f5b" /><Relationship Type="http://schemas.openxmlformats.org/officeDocument/2006/relationships/notesMaster" Target="/ppt/notesMasters/notesMaster1.xml" Id="Rbf9d5557a06f4a7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dc529d5b4174f05" /><Relationship Type="http://schemas.openxmlformats.org/officeDocument/2006/relationships/notesMaster" Target="/ppt/notesMasters/notesMaster1.xml" Id="R6db56323247d4de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dbc0070a8064a93" /><Relationship Type="http://schemas.openxmlformats.org/officeDocument/2006/relationships/notesMaster" Target="/ppt/notesMasters/notesMaster1.xml" Id="Rf33bf7a7b6fa458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cf436ce630f400b" /><Relationship Type="http://schemas.openxmlformats.org/officeDocument/2006/relationships/notesMaster" Target="/ppt/notesMasters/notesMaster1.xml" Id="R6336c9fef5454c0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회사와 제품 계층, 적용 사례, 주요 기능, 사전 질의에 대한 상세 답변, 증권 샘플 순서로 설명합니다. 핵심은 초기 그래프 생성뿐 아니라 변경 이후의 검증과 운영입니다.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/Users/uengine/uengine-platform/demo-securities/requirement/Requirement.md</a:t>
            </a:r>
          </a:p>
          <a:p xmlns:a="http://schemas.openxmlformats.org/drawingml/2006/main">
            <a:r>
              <a:t>/Users/uengine/Downloads/MSASchool_교과정제안서수정본 (2).pdf (표지 사진 및 디자인 참조, 교육 브랜드 로고는 유엔진 로고로 대체)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https://acmexii.github.io/cloudikehome/app/dashboard/</a:t>
            </a:r>
          </a:p>
          <a:p xmlns:a="http://schemas.openxmlformats.org/drawingml/2006/main">
            <a:r>
              <a:t>Captured 2026-10-25 KST. This deck describes visible service menus; the static demo does not execute uploads, sharing, deletion, payments or configuration changes. Personal data in source screens is fictional. Font fallback: Malgun Gothic.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https://acmexii.github.io/cloudikehome/app/documents/</a:t>
            </a:r>
          </a:p>
          <a:p xmlns:a="http://schemas.openxmlformats.org/drawingml/2006/main">
            <a:r>
              <a:t>Captured 2026-10-25 KST. This deck describes visible service menus; the static demo does not execute uploads, sharing, deletion, payments or configuration changes. Personal data in source screens is fictional. Font fallback: Malgun Gothic.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https://acmexii.github.io/cloudikehome/app/shared-documents/by-me/</a:t>
            </a:r>
          </a:p>
          <a:p xmlns:a="http://schemas.openxmlformats.org/drawingml/2006/main">
            <a:r>
              <a:t>Captured 2026-10-25 KST. This deck describes visible service menus; the static demo does not execute uploads, sharing, deletion, payments or configuration changes. Personal data in source screens is fictional. Font fallback: Malgun Gothic.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https://acmexii.github.io/cloudikehome/app/company-folder/</a:t>
            </a:r>
          </a:p>
          <a:p xmlns:a="http://schemas.openxmlformats.org/drawingml/2006/main">
            <a:r>
              <a:t>Captured 2026-10-25 KST. This deck describes visible service menus; the static demo does not execute uploads, sharing, deletion, payments or configuration changes. Personal data in source screens is fictional. Font fallback: Malgun Gothic.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https://acmexii.github.io/cloudikehome/app/clipbook/</a:t>
            </a:r>
          </a:p>
          <a:p xmlns:a="http://schemas.openxmlformats.org/drawingml/2006/main">
            <a:r>
              <a:t>Captured 2026-10-25 KST. This deck describes visible service menus; the static demo does not execute uploads, sharing, deletion, payments or configuration changes. Personal data in source screens is fictional. Font fallback: Malgun Gothic.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https://acmexii.github.io/cloudikehome/app/settings/team-management/</a:t>
            </a:r>
          </a:p>
          <a:p xmlns:a="http://schemas.openxmlformats.org/drawingml/2006/main">
            <a:r>
              <a:t>Captured 2026-10-25 KST. This deck describes visible service menus; the static demo does not execute uploads, sharing, deletion, payments or configuration changes. Personal data in source screens is fictional. Font fallback: Malgun Gothic.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https://acmexii.github.io/cloudikehome/app/settings/company/</a:t>
            </a:r>
          </a:p>
          <a:p xmlns:a="http://schemas.openxmlformats.org/drawingml/2006/main">
            <a:r>
              <a:t>Captured 2026-10-25 KST. This deck describes visible service menus; the static demo does not execute uploads, sharing, deletion, payments or configuration changes. Personal data in source screens is fictional. Font fallback: Malgun Gothic.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https://acmexii.github.io/cloudikehome/app/settings/activity-logs/</a:t>
            </a:r>
          </a:p>
          <a:p xmlns:a="http://schemas.openxmlformats.org/drawingml/2006/main">
            <a:r>
              <a:t>Captured 2026-10-25 KST. This deck describes visible service menus; the static demo does not execute uploads, sharing, deletion, payments or configuration changes. Personal data in source screens is fictional. Font fallback: Malgun Gothic.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https://acmexii.github.io/cloudikehome/app/settings/backup/</a:t>
            </a:r>
          </a:p>
          <a:p xmlns:a="http://schemas.openxmlformats.org/drawingml/2006/main">
            <a:r>
              <a:t>Captured 2026-10-25 KST. This deck describes visible service menus; the static demo does not execute uploads, sharing, deletion, payments or configuration changes. Personal data in source screens is fictional. Font fallback: Malgun Gothic.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https://acmexii.github.io/cloudikehome/app/pages/ . Captured 2026-10-25 KST. Static demo scope and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f4a0072207493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d15677676574919" /><Relationship Type="http://schemas.openxmlformats.org/officeDocument/2006/relationships/slideLayout" Target="/ppt/slideLayouts/slideLayout1.xml" Id="Ra1ca9cf32d094c3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1ca9cf32d094c3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e459ccad9a42e7" /><Relationship Type="http://schemas.openxmlformats.org/officeDocument/2006/relationships/image" Target="/ppt/media/image.png" Id="R81de86251fda4cf5" /><Relationship Type="http://schemas.openxmlformats.org/officeDocument/2006/relationships/image" Target="/ppt/media/image2.png" Id="R4e5b6181fc0248f7" /><Relationship Type="http://schemas.openxmlformats.org/officeDocument/2006/relationships/notesSlide" Target="/ppt/notesSlides/notesSlide1.xml" Id="R67f32932fdbb49e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dbadded7be478e" /><Relationship Type="http://schemas.openxmlformats.org/officeDocument/2006/relationships/image" Target="/ppt/media/image3.png" Id="R346fedac7f574918" /><Relationship Type="http://schemas.openxmlformats.org/officeDocument/2006/relationships/image" Target="/ppt/media/image.jpeg" Id="R2ddaef2041684096" /><Relationship Type="http://schemas.openxmlformats.org/officeDocument/2006/relationships/notesSlide" Target="/ppt/notesSlides/notesSlide2.xml" Id="R18def249e02449a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7bb492ae964c6a" /><Relationship Type="http://schemas.openxmlformats.org/officeDocument/2006/relationships/image" Target="/ppt/media/image4.png" Id="R5ea1700505c34be6" /><Relationship Type="http://schemas.openxmlformats.org/officeDocument/2006/relationships/image" Target="/ppt/media/image2.jpeg" Id="R03402f17ecf44787" /><Relationship Type="http://schemas.openxmlformats.org/officeDocument/2006/relationships/notesSlide" Target="/ppt/notesSlides/notesSlide3.xml" Id="R2c0fcf049457445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8a75216a574700" /><Relationship Type="http://schemas.openxmlformats.org/officeDocument/2006/relationships/image" Target="/ppt/media/image5.png" Id="R66bfb60ea02e474b" /><Relationship Type="http://schemas.openxmlformats.org/officeDocument/2006/relationships/image" Target="/ppt/media/image3.jpeg" Id="Rec45b057c549485d" /><Relationship Type="http://schemas.openxmlformats.org/officeDocument/2006/relationships/notesSlide" Target="/ppt/notesSlides/notesSlide4.xml" Id="Ra528e107671544c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581cfc5aab4f0a" /><Relationship Type="http://schemas.openxmlformats.org/officeDocument/2006/relationships/image" Target="/ppt/media/image6.png" Id="R9bf40bd87b7b4a1b" /><Relationship Type="http://schemas.openxmlformats.org/officeDocument/2006/relationships/image" Target="/ppt/media/image4.jpeg" Id="R5fff6d52c70d4c09" /><Relationship Type="http://schemas.openxmlformats.org/officeDocument/2006/relationships/notesSlide" Target="/ppt/notesSlides/notesSlide5.xml" Id="R3f1daf288324442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5c5c9fe09a40a3" /><Relationship Type="http://schemas.openxmlformats.org/officeDocument/2006/relationships/image" Target="/ppt/media/image7.png" Id="R28db7119f64b4fee" /><Relationship Type="http://schemas.openxmlformats.org/officeDocument/2006/relationships/image" Target="/ppt/media/image8.png" Id="R0b826eb876b84536" /><Relationship Type="http://schemas.openxmlformats.org/officeDocument/2006/relationships/notesSlide" Target="/ppt/notesSlides/notesSlide6.xml" Id="R8977db2e2d65465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d877f574d7466e" /><Relationship Type="http://schemas.openxmlformats.org/officeDocument/2006/relationships/image" Target="/ppt/media/image9.png" Id="R917e1e19f8f245e7" /><Relationship Type="http://schemas.openxmlformats.org/officeDocument/2006/relationships/image" Target="/ppt/media/image5.jpeg" Id="R1b058394353d4e61" /><Relationship Type="http://schemas.openxmlformats.org/officeDocument/2006/relationships/notesSlide" Target="/ppt/notesSlides/notesSlide7.xml" Id="Rc830aa3b3a4747b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258b050510442f" /><Relationship Type="http://schemas.openxmlformats.org/officeDocument/2006/relationships/image" Target="/ppt/media/image10.png" Id="R25b92c3151e84dcc" /><Relationship Type="http://schemas.openxmlformats.org/officeDocument/2006/relationships/image" Target="/ppt/media/image6.jpeg" Id="R8b0d48a7bf3c45b6" /><Relationship Type="http://schemas.openxmlformats.org/officeDocument/2006/relationships/notesSlide" Target="/ppt/notesSlides/notesSlide8.xml" Id="Rc921d09db72f498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bba8c981c24cf4" /><Relationship Type="http://schemas.openxmlformats.org/officeDocument/2006/relationships/image" Target="/ppt/media/image11.png" Id="Rc5424ba186f947ba" /><Relationship Type="http://schemas.openxmlformats.org/officeDocument/2006/relationships/image" Target="/ppt/media/image7.jpeg" Id="R237c275d77654239" /><Relationship Type="http://schemas.openxmlformats.org/officeDocument/2006/relationships/notesSlide" Target="/ppt/notesSlides/notesSlide9.xml" Id="R65cbb8ad98e24e3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a929936f2247b8" /><Relationship Type="http://schemas.openxmlformats.org/officeDocument/2006/relationships/image" Target="/ppt/media/image12.png" Id="R511169877ce14b12" /><Relationship Type="http://schemas.openxmlformats.org/officeDocument/2006/relationships/image" Target="/ppt/media/image8.jpeg" Id="Raa4387d07e87406c" /><Relationship Type="http://schemas.openxmlformats.org/officeDocument/2006/relationships/notesSlide" Target="/ppt/notesSlides/notesSlide10.xml" Id="R89a4e0c9319d43a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cc95edf132471a" /><Relationship Type="http://schemas.openxmlformats.org/officeDocument/2006/relationships/image" Target="/ppt/media/image13.png" Id="R7fbb6ca6faa74615" /><Relationship Type="http://schemas.openxmlformats.org/officeDocument/2006/relationships/notesSlide" Target="/ppt/notesSlides/notesSlide11.xml" Id="R35c7ee4f7f6d42b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1AB01F-F82B-4A8E-AE84-A0B8AA1AE7C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de86251fda4cf5"/>
          <a:stretch xmlns:a="http://schemas.openxmlformats.org/drawingml/2006/main"/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356B2E-F26F-434B-A55F-0DFAD5D5C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8191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0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90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90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90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90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90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90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90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90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90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pPr>
            <a:r>
              <a:rPr sz="390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클라우다이크 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7E5469-60EA-478F-948A-390CD0F89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0"/>
            <a:ext cx="8096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0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300" b="0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300" b="0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300" b="0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300" b="0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300" b="0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300" b="0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300" b="0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300" b="0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300" b="0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0">
                <a:solidFill>
                  <a:srgbClr val="67519E"/>
                </a:solidFill>
                <a:latin typeface="Malgun Gothic"/>
                <a:ea typeface="Malgun Gothic"/>
                <a:cs typeface="Malgun Gothic"/>
              </a:rPr>
              <a:t>화면으로 살펴보는</a:t>
            </a:r>
          </a:p>
          <a:p xmlns:a="http://schemas.openxmlformats.org/drawingml/2006/main">
            <a:pPr>
              <a:defRPr sz="3300" b="0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0">
                <a:solidFill>
                  <a:srgbClr val="67519E"/>
                </a:solidFill>
                <a:latin typeface="Malgun Gothic"/>
                <a:ea typeface="Malgun Gothic"/>
                <a:cs typeface="Malgun Gothic"/>
              </a:rPr>
              <a:t>주요 기능과 관리 메뉴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E7A267-F23D-4C36-85C8-D60CBA8EE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76875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75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75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75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75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75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75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75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75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75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문서 관리 · 공유 · 팀 관리 · 백업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D4B374-773D-41AF-8F1A-D5D1CBC1727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5b6181fc0248f7"/>
          <a:stretch xmlns:a="http://schemas.openxmlformats.org/drawingml/2006/main"/>
        </p:blipFill>
        <p:spPr>
          <a:xfrm xmlns:a="http://schemas.openxmlformats.org/drawingml/2006/main">
            <a:off x="800100" y="6667500"/>
            <a:ext cx="2695575" cy="5143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8CFE85-29E5-47C8-A786-DC23F6FC3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686675"/>
            <a:ext cx="723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6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6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6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6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6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6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6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6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6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rPr>
              <a:t>앱 기능소개 자료  /  2026.10</a:t>
            </a:r>
          </a:p>
        </p:txBody>
      </p:sp>
    </p:spTree>
    <p:extLst>
      <p:ext uri="{BB962C8B-B14F-4D97-AF65-F5344CB8AC3E}">
        <p14:creationId xmlns:p14="http://schemas.microsoft.com/office/powerpoint/2010/main" val="20077447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C637CD-D428-4E3A-A92E-9E504BA5E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57200"/>
            <a:ext cx="571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519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4C8FD3-3967-4980-9675-A58065186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9100"/>
            <a:ext cx="11811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8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8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8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8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8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8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8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8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8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대시보드에서 사용 현황을 한눈에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85A23E-257E-49A5-BE9A-E389DF2A7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47775"/>
            <a:ext cx="1362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0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0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0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0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0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0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0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0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0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67519E"/>
                </a:solidFill>
                <a:latin typeface="Malgun Gothic"/>
                <a:ea typeface="Malgun Gothic"/>
                <a:cs typeface="Malgun Gothic"/>
              </a:rPr>
              <a:t>용량·트래픽과 최근 업로드 파일을 한 화면에서 확인합니다.</a:t>
            </a:r>
          </a:p>
        </p:txBody>
      </p:sp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79C8FA-9316-428B-9273-B4317D5A8A5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6fedac7f574918"/>
          <a:stretch xmlns:a="http://schemas.openxmlformats.org/drawingml/2006/main"/>
        </p:blipFill>
        <p:spPr>
          <a:xfrm xmlns:a="http://schemas.openxmlformats.org/drawingml/2006/main">
            <a:off x="12954000" y="527426"/>
            <a:ext cx="1809750" cy="345323"/>
          </a:xfrm>
          <a:prstGeom xmlns:a="http://schemas.openxmlformats.org/drawingml/2006/main" prst="rect">
            <a:avLst/>
          </a:prstGeom>
        </p:spPr>
      </p:pic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194634-740B-41B5-9517-8A2F7FE8350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daef2041684096"/>
          <a:stretch xmlns:a="http://schemas.openxmlformats.org/drawingml/2006/main"/>
        </p:blipFill>
        <p:spPr>
          <a:xfrm xmlns:a="http://schemas.openxmlformats.org/drawingml/2006/main">
            <a:off x="856277" y="2143125"/>
            <a:ext cx="10288947" cy="5095875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4C8E57-D409-4EAA-A3E8-727B5CC39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2333625"/>
            <a:ext cx="2905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rPr>
              <a:t>사용 현황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CD6C72-71C2-4895-B334-94509F8C4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000375"/>
            <a:ext cx="29051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개인·기업 용량과 트래픽을 구분해 볼 수 있습니다.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3C98F5-53FD-4958-9E6F-6136B4FD0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762500"/>
            <a:ext cx="2905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rPr>
              <a:t>최근 파일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035EB1-036C-4373-AE3E-8AFCA2FA2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429250"/>
            <a:ext cx="29051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문서명·경로·작성자·수정일을 살펴봅니다.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9429A6-6941-44DA-A432-AE06E708A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10525"/>
            <a:ext cx="1228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rPr>
              <a:t>클라우다이크 앱 기능소개 · 실습용 정적 화면 / 예시 데이터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A02748-E2DF-4C90-9E95-423A7003C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79914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027078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4D67E1-C0E9-44F1-BDEB-29DE7EC27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57200"/>
            <a:ext cx="571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519E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00E7C5-CA8A-49DB-A9CF-FF60A16A5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9100"/>
            <a:ext cx="11811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8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8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8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8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8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8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8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8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8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모든 문서함에서 업무 파일 정리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F196B0-15DD-4E89-B50A-FF8FDD9CE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47775"/>
            <a:ext cx="1362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0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0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0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0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0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0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0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0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0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67519E"/>
                </a:solidFill>
                <a:latin typeface="Malgun Gothic"/>
                <a:ea typeface="Malgun Gothic"/>
                <a:cs typeface="Malgun Gothic"/>
              </a:rPr>
              <a:t>파일 목록과 검색·정렬·업로드 메뉴를 함께 제공합니다.</a:t>
            </a:r>
          </a:p>
        </p:txBody>
      </p:sp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D75045-6A9B-48D3-A10C-8EA1ECFF72E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a1700505c34be6"/>
          <a:stretch xmlns:a="http://schemas.openxmlformats.org/drawingml/2006/main"/>
        </p:blipFill>
        <p:spPr>
          <a:xfrm xmlns:a="http://schemas.openxmlformats.org/drawingml/2006/main">
            <a:off x="12954000" y="527426"/>
            <a:ext cx="1809750" cy="345323"/>
          </a:xfrm>
          <a:prstGeom xmlns:a="http://schemas.openxmlformats.org/drawingml/2006/main" prst="rect">
            <a:avLst/>
          </a:prstGeom>
        </p:spPr>
      </p:pic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D1AC4B-7CD9-4778-AD5C-8143B4962F6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402f17ecf44787"/>
          <a:stretch xmlns:a="http://schemas.openxmlformats.org/drawingml/2006/main"/>
        </p:blipFill>
        <p:spPr>
          <a:xfrm xmlns:a="http://schemas.openxmlformats.org/drawingml/2006/main">
            <a:off x="856277" y="2143125"/>
            <a:ext cx="10288947" cy="5095875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3585AB-5A42-4CE2-967B-20017A0F0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2333625"/>
            <a:ext cx="2905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rPr>
              <a:t>문서 목록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55E9D6-24F2-4C43-8C04-D99A2F7EC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000375"/>
            <a:ext cx="29051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작성자·크기·수정일과 링크 열을 확인합니다.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8DFD00-FC9A-446F-8163-69858C795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762500"/>
            <a:ext cx="2905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rPr>
              <a:t>정리 메뉴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8BF3C6-10F3-44F9-AC3D-8F1C6AD44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429250"/>
            <a:ext cx="29051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새 폴더·새 파일과 목록 표시 메뉴가 배치되어 있습니다.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B88EE3-9989-4F50-B3B2-3778E683B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10525"/>
            <a:ext cx="1228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rPr>
              <a:t>클라우다이크 앱 기능소개 · 실습용 정적 화면 / 예시 데이터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931DA0-021B-4B8F-9020-1D09AB4DE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79914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578497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9282D6-E8B1-492F-9B10-0D8A29E8B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57200"/>
            <a:ext cx="571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519E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8DA672-616F-40D8-9E7A-548B53AFB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9100"/>
            <a:ext cx="11811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8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8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8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8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8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8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8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8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8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공유한 문서와 받은 문서를 구분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3AE640-ED22-4336-8AF2-C8CAA11BE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47775"/>
            <a:ext cx="1362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0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0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0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0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0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0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0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0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0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67519E"/>
                </a:solidFill>
                <a:latin typeface="Malgun Gothic"/>
                <a:ea typeface="Malgun Gothic"/>
                <a:cs typeface="Malgun Gothic"/>
              </a:rPr>
              <a:t>공유한 항목·공유받은 항목·공유링크를 나눠 탐색합니다.</a:t>
            </a:r>
          </a:p>
        </p:txBody>
      </p:sp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FF58E0-32CB-4C5A-9380-8EF4537DB5D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bfb60ea02e474b"/>
          <a:stretch xmlns:a="http://schemas.openxmlformats.org/drawingml/2006/main"/>
        </p:blipFill>
        <p:spPr>
          <a:xfrm xmlns:a="http://schemas.openxmlformats.org/drawingml/2006/main">
            <a:off x="12954000" y="527426"/>
            <a:ext cx="1809750" cy="345323"/>
          </a:xfrm>
          <a:prstGeom xmlns:a="http://schemas.openxmlformats.org/drawingml/2006/main" prst="rect">
            <a:avLst/>
          </a:prstGeom>
        </p:spPr>
      </p:pic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41FF64-0B53-4E49-89CB-C35F418EE7B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45b057c549485d"/>
          <a:stretch xmlns:a="http://schemas.openxmlformats.org/drawingml/2006/main"/>
        </p:blipFill>
        <p:spPr>
          <a:xfrm xmlns:a="http://schemas.openxmlformats.org/drawingml/2006/main">
            <a:off x="856277" y="2143125"/>
            <a:ext cx="10288947" cy="5095875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FD8983-9C99-4006-BD58-78E0993FD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2333625"/>
            <a:ext cx="2905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rPr>
              <a:t>세 가지 보기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145BDB-29BD-43DC-8943-3A12BA54B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000375"/>
            <a:ext cx="29051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공유 대상에 맞는 메뉴에서 항목을 찾습니다.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A4C878-4FA2-4882-AB69-F6F8B2705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762500"/>
            <a:ext cx="2905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rPr>
              <a:t>목록 확인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167E60-8938-4B70-A0D9-7EF9F093C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429250"/>
            <a:ext cx="29051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문서명·소유자·크기·수정일을 확인합니다.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2E33ED-B74D-4DAE-A326-E7664524E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10525"/>
            <a:ext cx="1228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rPr>
              <a:t>클라우다이크 앱 기능소개 · 실습용 정적 화면 / 예시 데이터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8BB4D57-A14D-40FB-8BA1-D0D6B7F80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79914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008664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62D7DE-9D8F-4981-8DA4-B020BAB59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57200"/>
            <a:ext cx="571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519E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4B088B-B634-43EF-BA84-D2DBF30B2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9100"/>
            <a:ext cx="11811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8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8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8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8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8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8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8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8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8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기업 문서함으로 조직 문서 구분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C6665E-6D97-4DBD-AA8D-1CCDBA345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47775"/>
            <a:ext cx="1362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0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0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0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0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0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0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0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0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0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67519E"/>
                </a:solidFill>
                <a:latin typeface="Malgun Gothic"/>
                <a:ea typeface="Malgun Gothic"/>
                <a:cs typeface="Malgun Gothic"/>
              </a:rPr>
              <a:t>개인 문서와 별도로 기업 문서함을 탐색할 수 있습니다.</a:t>
            </a:r>
          </a:p>
        </p:txBody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D3C221-928F-40F3-AECA-FFE730C6E2B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f40bd87b7b4a1b"/>
          <a:stretch xmlns:a="http://schemas.openxmlformats.org/drawingml/2006/main"/>
        </p:blipFill>
        <p:spPr>
          <a:xfrm xmlns:a="http://schemas.openxmlformats.org/drawingml/2006/main">
            <a:off x="12954000" y="527426"/>
            <a:ext cx="1809750" cy="345323"/>
          </a:xfrm>
          <a:prstGeom xmlns:a="http://schemas.openxmlformats.org/drawingml/2006/main" prst="rect">
            <a:avLst/>
          </a:prstGeom>
        </p:spPr>
      </p:pic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6A995F-604D-451B-AFEB-594380BAD0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ff6d52c70d4c09"/>
          <a:stretch xmlns:a="http://schemas.openxmlformats.org/drawingml/2006/main"/>
        </p:blipFill>
        <p:spPr>
          <a:xfrm xmlns:a="http://schemas.openxmlformats.org/drawingml/2006/main">
            <a:off x="856277" y="2143125"/>
            <a:ext cx="10288947" cy="5095875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110CB8-3D80-4AFF-99D9-37AA95A29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2333625"/>
            <a:ext cx="2905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rPr>
              <a:t>조직 문서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1DC905-0DC7-4F14-8D3C-7FC15AA11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000375"/>
            <a:ext cx="29051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기업 문서함의 항목과 소유자를 확인합니다.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38DF24-AC26-4D7F-B336-DDAAFCE21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762500"/>
            <a:ext cx="2905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rPr>
              <a:t>현재 화면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F2C1D3-C6B7-44A7-90B8-EC2D295D7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429250"/>
            <a:ext cx="29051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예시 사본은 비어 있는 기업 문서함 상태를 보여줍니다.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0AB2E3-DB56-43D6-84C6-BD473B3BE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10525"/>
            <a:ext cx="1228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rPr>
              <a:t>클라우다이크 앱 기능소개 · 실습용 정적 화면 / 예시 데이터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C2F599-39E8-4E7F-B71F-1DD2CC3D4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79914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997098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1A61ED-F2CF-45F9-A695-3AACE507F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57200"/>
            <a:ext cx="571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519E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34199F-4859-4E7D-BD26-CB613E376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9100"/>
            <a:ext cx="11811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8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8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8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8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8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8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8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8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8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웹에서 찾은 정보를 클립북에 보관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AC710B-722F-462A-9EAE-0EFD0868E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47775"/>
            <a:ext cx="1362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0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0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0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0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0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0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0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0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0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67519E"/>
                </a:solidFill>
                <a:latin typeface="Malgun Gothic"/>
                <a:ea typeface="Malgun Gothic"/>
                <a:cs typeface="Malgun Gothic"/>
              </a:rPr>
              <a:t>클립북 확장 프로그램의 이용 흐름을 안내합니다.</a:t>
            </a:r>
          </a:p>
        </p:txBody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45E4CA-7D4A-46D2-83B6-962AECFB786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db7119f64b4fee"/>
          <a:stretch xmlns:a="http://schemas.openxmlformats.org/drawingml/2006/main"/>
        </p:blipFill>
        <p:spPr>
          <a:xfrm xmlns:a="http://schemas.openxmlformats.org/drawingml/2006/main">
            <a:off x="12954000" y="527426"/>
            <a:ext cx="1809750" cy="345323"/>
          </a:xfrm>
          <a:prstGeom xmlns:a="http://schemas.openxmlformats.org/drawingml/2006/main" prst="rect">
            <a:avLst/>
          </a:prstGeom>
        </p:spPr>
      </p:pic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2162B8-527F-4EA5-8C20-500B362363D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826eb876b84536"/>
          <a:stretch xmlns:a="http://schemas.openxmlformats.org/drawingml/2006/main"/>
        </p:blipFill>
        <p:spPr>
          <a:xfrm xmlns:a="http://schemas.openxmlformats.org/drawingml/2006/main">
            <a:off x="978648" y="2143125"/>
            <a:ext cx="1805078" cy="5095875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D5DC36-3FEB-417A-BF63-F15C046D7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381250"/>
            <a:ext cx="7429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D4D4D4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632ACE-C413-4DA4-8836-F6563243E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524125"/>
            <a:ext cx="695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250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250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250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250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250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250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250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250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250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rPr>
              <a:t>01  확장 프로그램 설치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9A62C0-3089-4C6F-885D-884B54DDF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076575"/>
            <a:ext cx="695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Chrome에 클립북을 추가합니다.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074263-45E7-4C35-988F-4B9E09339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000500"/>
            <a:ext cx="7429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D4D4D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5F97E8-E934-4550-A5AF-8D9A82A27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143375"/>
            <a:ext cx="695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250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250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250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250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250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250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250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250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250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rPr>
              <a:t>02  웹 콘텐츠 저장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6B6322-7151-41DE-A234-C24B9F974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695825"/>
            <a:ext cx="695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웹 스크랩·스크린샷·기사를 수집합니다.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8105CB-41ED-4A34-B03B-AEB3F53C1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619750"/>
            <a:ext cx="7429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D4D4D4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947BF6-7856-4AF7-A1DC-51341F54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762625"/>
            <a:ext cx="695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250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250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250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250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250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250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250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250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250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rPr>
              <a:t>03  ClipBook 폴더 확인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3B444E-19AB-4331-807D-7394E7977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6315075"/>
            <a:ext cx="695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모든 문서함에서 저장한 내용을 확인합니다.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B3212A-2024-4F8B-936D-4F9080937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2333625"/>
            <a:ext cx="2905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rPr>
              <a:t>웹 콘텐츠 수집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849518-25E3-4CFE-A5D1-7C20DC63B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000375"/>
            <a:ext cx="29051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웹 스크랩·스크린샷·기사 저장 방식을 소개합니다.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E9D7D16-6A49-46F7-9FDA-763685685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762500"/>
            <a:ext cx="2905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rPr>
              <a:t>확인 위치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C3F04A1-9B4F-4F0C-ABB4-4140920EB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429250"/>
            <a:ext cx="29051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저장한 콘텐츠는 모든 문서함의 ClipBook 폴더에서 확인합니다.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FDAE452-4C5C-4034-AD8D-FAD3221D0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10525"/>
            <a:ext cx="1228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rPr>
              <a:t>클라우다이크 앱 기능소개 · 실습용 정적 화면 / 예시 데이터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D54CC83-FBA5-4771-A3BE-A54C2C735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79914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051694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EDF1E9-A86B-4199-80B4-3BF95988E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57200"/>
            <a:ext cx="571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519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4137AE-9FA4-4ED3-A7A2-78FFDBC31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9100"/>
            <a:ext cx="11811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8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8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8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8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8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8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8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8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8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팀원·그룹·조직을 관리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5B7CC1-B8C4-40B3-AD4D-5B2FA903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47775"/>
            <a:ext cx="1362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0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0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0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0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0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0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0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0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0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67519E"/>
                </a:solidFill>
                <a:latin typeface="Malgun Gothic"/>
                <a:ea typeface="Malgun Gothic"/>
                <a:cs typeface="Malgun Gothic"/>
              </a:rPr>
              <a:t>구성원 정보와 권한 관련 항목을 한곳에서 살펴봅니다.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8B583D-7559-4B3A-AA8D-151D923A914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7e1e19f8f245e7"/>
          <a:stretch xmlns:a="http://schemas.openxmlformats.org/drawingml/2006/main"/>
        </p:blipFill>
        <p:spPr>
          <a:xfrm xmlns:a="http://schemas.openxmlformats.org/drawingml/2006/main">
            <a:off x="12954000" y="527426"/>
            <a:ext cx="1809750" cy="345323"/>
          </a:xfrm>
          <a:prstGeom xmlns:a="http://schemas.openxmlformats.org/drawingml/2006/main" prst="rect">
            <a:avLst/>
          </a:prstGeom>
        </p:spPr>
      </p:pic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09BDF1-BBE0-426D-84A6-382F624005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058394353d4e61"/>
          <a:stretch xmlns:a="http://schemas.openxmlformats.org/drawingml/2006/main"/>
        </p:blipFill>
        <p:spPr>
          <a:xfrm xmlns:a="http://schemas.openxmlformats.org/drawingml/2006/main">
            <a:off x="856277" y="2143125"/>
            <a:ext cx="10288947" cy="5095875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550449-CCF7-423A-924F-DB7706DCB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2333625"/>
            <a:ext cx="2905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rPr>
              <a:t>팀원 목록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227FC2-1950-49DC-BE71-5E695F2AF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000375"/>
            <a:ext cx="29051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이름·용량·역할·상태·최근 로그인 열을 제공합니다.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8124F4-F403-4CFE-9352-7C2CDF9B1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762500"/>
            <a:ext cx="2905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rPr>
              <a:t>조직 구성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921570-E1DA-42F2-8654-0635ED884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429250"/>
            <a:ext cx="29051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모든 유저·그룹·조직도 탭으로 관리 대상을 구분합니다.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213241-FF7E-4433-B576-6262E44A9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10525"/>
            <a:ext cx="1228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rPr>
              <a:t>클라우다이크 앱 기능소개 · 실습용 정적 화면 / 예시 데이터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4AAAF6-ADE8-4E49-B1DE-2BCD43DAF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79914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147207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CA75C2-36DD-4F17-8FF0-5CFFD7C1E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57200"/>
            <a:ext cx="571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519E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30379F-FA2F-4641-8C8B-C497246AD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9100"/>
            <a:ext cx="11811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8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8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8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8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8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8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8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8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8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기업 설정에서 보안 항목 확인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3AE5EF-CE68-4725-94EC-8D3F1D0C9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47775"/>
            <a:ext cx="1362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0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0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0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0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0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0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0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0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0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67519E"/>
                </a:solidFill>
                <a:latin typeface="Malgun Gothic"/>
                <a:ea typeface="Malgun Gothic"/>
                <a:cs typeface="Malgun Gothic"/>
              </a:rPr>
              <a:t>로그인 방식과 공유·앱 사용 정책을 설정하는 메뉴입니다.</a:t>
            </a:r>
          </a:p>
        </p:txBody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30962A-D848-4F00-9CC8-835B7F991D3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b92c3151e84dcc"/>
          <a:stretch xmlns:a="http://schemas.openxmlformats.org/drawingml/2006/main"/>
        </p:blipFill>
        <p:spPr>
          <a:xfrm xmlns:a="http://schemas.openxmlformats.org/drawingml/2006/main">
            <a:off x="12954000" y="527426"/>
            <a:ext cx="1809750" cy="345323"/>
          </a:xfrm>
          <a:prstGeom xmlns:a="http://schemas.openxmlformats.org/drawingml/2006/main" prst="rect">
            <a:avLst/>
          </a:prstGeom>
        </p:spPr>
      </p:pic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ED03DC-F7DD-4249-ABB4-4C3A6F63282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0d48a7bf3c45b6"/>
          <a:stretch xmlns:a="http://schemas.openxmlformats.org/drawingml/2006/main"/>
        </p:blipFill>
        <p:spPr>
          <a:xfrm xmlns:a="http://schemas.openxmlformats.org/drawingml/2006/main">
            <a:off x="855741" y="2143125"/>
            <a:ext cx="10290018" cy="5095875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C1ACB5-0A02-45F7-B60D-9F8468656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2333625"/>
            <a:ext cx="2905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rPr>
              <a:t>로그인 설정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FF8A8F-377A-4DDD-89E7-4A01FA34A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000375"/>
            <a:ext cx="29051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Email·LDAP와 자동 로그아웃 등의 항목이 표시됩니다.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07C11E-1A6E-479A-8357-9512BCCEF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762500"/>
            <a:ext cx="2905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rPr>
              <a:t>사용 정책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41A562-AC99-4D1D-9B2B-B1215154B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429250"/>
            <a:ext cx="29051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공유 링크·모바일 앱·IP 제한 등 기업 설정 항목을 확인합니다.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E4B9B5-0398-4C27-BC4D-029214B6F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10525"/>
            <a:ext cx="1228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rPr>
              <a:t>클라우다이크 앱 기능소개 · 실습용 정적 화면 / 예시 데이터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2C25F2-FA6A-4A63-BCFB-A731991F7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79914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8355070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DDE3AB-0A03-4AF0-ACA9-3672B69B5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57200"/>
            <a:ext cx="571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519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9C8CAB-C58B-484F-BE73-1CB5C4F13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9100"/>
            <a:ext cx="11811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8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8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8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8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8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8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8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8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8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활동로그에서 문서 작업 이력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55830D-9DD5-4042-90F5-1A1CA0EE5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47775"/>
            <a:ext cx="1362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0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0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0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0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0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0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0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0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0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67519E"/>
                </a:solidFill>
                <a:latin typeface="Malgun Gothic"/>
                <a:ea typeface="Malgun Gothic"/>
                <a:cs typeface="Malgun Gothic"/>
              </a:rPr>
              <a:t>기간과 사용자 조건으로 활동을 살펴보는 화면입니다.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EF8F66-AA63-4CB5-BE7E-0887B50ECD9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424ba186f947ba"/>
          <a:stretch xmlns:a="http://schemas.openxmlformats.org/drawingml/2006/main"/>
        </p:blipFill>
        <p:spPr>
          <a:xfrm xmlns:a="http://schemas.openxmlformats.org/drawingml/2006/main">
            <a:off x="12954000" y="527426"/>
            <a:ext cx="1809750" cy="345323"/>
          </a:xfrm>
          <a:prstGeom xmlns:a="http://schemas.openxmlformats.org/drawingml/2006/main" prst="rect">
            <a:avLst/>
          </a:prstGeom>
        </p:spPr>
      </p:pic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F94F1F-0811-4051-BFB2-1AEA8084F46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7c275d77654239"/>
          <a:stretch xmlns:a="http://schemas.openxmlformats.org/drawingml/2006/main"/>
        </p:blipFill>
        <p:spPr>
          <a:xfrm xmlns:a="http://schemas.openxmlformats.org/drawingml/2006/main">
            <a:off x="855741" y="2143125"/>
            <a:ext cx="10290018" cy="5095875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8619D2-58F3-4573-B262-9079E1FDE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2333625"/>
            <a:ext cx="2905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rPr>
              <a:t>조회 조건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0B6249-F6E7-4D4A-BAEB-97EF626C9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000375"/>
            <a:ext cx="29051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유형·기간·사용자 필터와 다운로드 메뉴를 제공합니다.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5C36FE-3EC8-4CB5-B341-19EDD6FBE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762500"/>
            <a:ext cx="2905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rPr>
              <a:t>이력 항목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473FE7-E507-49C6-AD32-8BED3EC6C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429250"/>
            <a:ext cx="29051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활동·문서 경로·크기·접속 IP 열을 확인할 수 있습니다.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7A6DC6-8B75-482B-BA4F-20E298F14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10525"/>
            <a:ext cx="1228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rPr>
              <a:t>클라우다이크 앱 기능소개 · 실습용 정적 화면 / 예시 데이터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EA0F60-D9B2-488F-8D76-D81999913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79914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21312769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5CDF9E-8A9B-4E1A-86D8-B85660917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57200"/>
            <a:ext cx="571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519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4106D3-8A5A-43A7-AD91-C0920889D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9100"/>
            <a:ext cx="11811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8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8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8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8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8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8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8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8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8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백업과 아카이브 상태를 구분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5EA8DD-27C1-4B51-98D3-4ACDE8A13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47775"/>
            <a:ext cx="1362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0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0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0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0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0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0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0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0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0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67519E"/>
                </a:solidFill>
                <a:latin typeface="Malgun Gothic"/>
                <a:ea typeface="Malgun Gothic"/>
                <a:cs typeface="Malgun Gothic"/>
              </a:rPr>
              <a:t>사용 용량과 작업 목록을 백업·아카이브 탭에서 확인합니다.</a:t>
            </a:r>
          </a:p>
        </p:txBody>
      </p:sp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8D5654-725C-44DE-9289-4FA12A14F2E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1169877ce14b12"/>
          <a:stretch xmlns:a="http://schemas.openxmlformats.org/drawingml/2006/main"/>
        </p:blipFill>
        <p:spPr>
          <a:xfrm xmlns:a="http://schemas.openxmlformats.org/drawingml/2006/main">
            <a:off x="12954000" y="527426"/>
            <a:ext cx="1809750" cy="345323"/>
          </a:xfrm>
          <a:prstGeom xmlns:a="http://schemas.openxmlformats.org/drawingml/2006/main" prst="rect">
            <a:avLst/>
          </a:prstGeom>
        </p:spPr>
      </p:pic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433B81-395F-46A4-AFDD-19FBB4FC4C9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4387d07e87406c"/>
          <a:stretch xmlns:a="http://schemas.openxmlformats.org/drawingml/2006/main"/>
        </p:blipFill>
        <p:spPr>
          <a:xfrm xmlns:a="http://schemas.openxmlformats.org/drawingml/2006/main">
            <a:off x="856277" y="2143125"/>
            <a:ext cx="10288947" cy="5095875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5AFBCB-A74B-4F24-BA2D-01FD919E6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2333625"/>
            <a:ext cx="2905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rPr>
              <a:t>용량 확인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C346D2-896E-45C4-ABFB-E26BECB5B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000375"/>
            <a:ext cx="29051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사용·사용 가능 용량과 백업·아카이브 용량을 표시합니다.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83B807-E5D7-47E7-80EC-D4368724B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762500"/>
            <a:ext cx="2905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rPr>
              <a:t>작업 목록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61D37F-70B9-4C47-B99C-6F1303825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429250"/>
            <a:ext cx="29051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날짜·경로·소유자·크기·백업 주기 등을 살펴봅니다.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4F2C63-1CAE-454A-A08F-129CF9CAE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10525"/>
            <a:ext cx="1228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rPr>
              <a:t>클라우다이크 앱 기능소개 · 실습용 정적 화면 / 예시 데이터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A56FDB-0320-4062-8F14-527778876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79914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89010871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3FAB45-7082-407F-BDDB-E85F8B5D2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57200"/>
            <a:ext cx="571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519E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DFE3FE-142F-4B63-BB0B-1ED551BFD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9100"/>
            <a:ext cx="11811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8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8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8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8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8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8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8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8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8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실습 화면을 둘러보세요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C09842-1FF0-4730-9859-1908B28BC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47775"/>
            <a:ext cx="1362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0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0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0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0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0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0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0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0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0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67519E"/>
                </a:solidFill>
                <a:latin typeface="Malgun Gothic"/>
                <a:ea typeface="Malgun Gothic"/>
                <a:cs typeface="Malgun Gothic"/>
              </a:rPr>
              <a:t>실제 계정 작업 없이 주요 메뉴와 화면 구성을 살펴볼 수 있습니다.</a:t>
            </a:r>
          </a:p>
        </p:txBody>
      </p:sp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E224B6-7CCA-4BF7-8B7A-887ABEF4C6A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bb6ca6faa74615"/>
          <a:stretch xmlns:a="http://schemas.openxmlformats.org/drawingml/2006/main"/>
        </p:blipFill>
        <p:spPr>
          <a:xfrm xmlns:a="http://schemas.openxmlformats.org/drawingml/2006/main">
            <a:off x="12954000" y="527426"/>
            <a:ext cx="1809750" cy="345323"/>
          </a:xfrm>
          <a:prstGeom xmlns:a="http://schemas.openxmlformats.org/drawingml/2006/main" prst="rect">
            <a:avLst/>
          </a:prstGeom>
        </p:spPr>
      </p:pic>
      <p:graphicFrame>
        <p:nvGraphicFrame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F8E955-244E-4B36-AFE3-C7FC11AD42D3}"/>
              </a:ext>
            </a:extLst>
          </p:cNvPr>
          <p:cNvGraphicFramePr/>
          <p:nvPr/>
        </p:nvGraphicFramePr>
        <p:xfrm>
          <a:off xmlns:a="http://schemas.openxmlformats.org/drawingml/2006/main" x="762000" y="2238375"/>
          <a:ext xmlns:a="http://schemas.openxmlformats.org/drawingml/2006/main" cx="13716000" cy="3286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10477500"/>
              </a:tblGrid>
              <a:tr h="65722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살펴볼 영역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4D4"/>
                      </a:solidFill>
                      <a:prstDash val="solid"/>
                    </a:lnL>
                    <a:lnR w="9525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D4D4D4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  <a:prstDash val="solid"/>
                    </a:lnB>
                    <a:solidFill>
                      <a:srgbClr val="6751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확인할 내용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4D4"/>
                      </a:solidFill>
                      <a:prstDash val="solid"/>
                    </a:lnR>
                    <a:lnT w="9525">
                      <a:solidFill>
                        <a:srgbClr val="D4D4D4"/>
                      </a:solidFill>
                      <a:prstDash val="solid"/>
                    </a:lnT>
                    <a:lnB w="9525">
                      <a:solidFill>
                        <a:srgbClr val="D4D4D4"/>
                      </a:solidFill>
                      <a:prstDash val="solid"/>
                    </a:lnB>
                    <a:solidFill>
                      <a:srgbClr val="67519E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문서와 공유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4D4"/>
                      </a:solidFill>
                      <a:prstDash val="solid"/>
                    </a:lnL>
                    <a:lnR w="9525">
                      <a:solidFill>
                        <a:srgbClr val="D4D4D4"/>
                      </a:solidFill>
                      <a:prstDash val="solid"/>
                    </a:lnR>
                    <a:lnB w="9525">
                      <a:solidFill>
                        <a:srgbClr val="D4D4D4"/>
                      </a:solidFill>
                      <a:prstDash val="solid"/>
                    </a:lnB>
                    <a:solidFill>
                      <a:srgbClr val="F1ED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모든 문서함 · 공유 문서함 · 기업 문서함 · 클립북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4D4"/>
                      </a:solidFill>
                      <a:prstDash val="solid"/>
                    </a:lnR>
                    <a:lnB w="9525">
                      <a:solidFill>
                        <a:srgbClr val="D4D4D4"/>
                      </a:solidFill>
                      <a:prstDash val="solid"/>
                    </a:lnB>
                    <a:solidFill>
                      <a:srgbClr val="F5F7F8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운영과 관리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4D4"/>
                      </a:solidFill>
                      <a:prstDash val="solid"/>
                    </a:lnL>
                    <a:lnR w="9525">
                      <a:solidFill>
                        <a:srgbClr val="D4D4D4"/>
                      </a:solidFill>
                      <a:prstDash val="solid"/>
                    </a:lnR>
                    <a:lnB w="9525">
                      <a:solidFill>
                        <a:srgbClr val="D4D4D4"/>
                      </a:solidFill>
                      <a:prstDash val="solid"/>
                    </a:lnB>
                    <a:solidFill>
                      <a:srgbClr val="F1ED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개인설정 · 팀원/그룹/조직 · 기업설정 · 활동로그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4D4"/>
                      </a:solidFill>
                      <a:prstDash val="solid"/>
                    </a:lnR>
                    <a:lnB w="9525">
                      <a:solidFill>
                        <a:srgbClr val="D4D4D4"/>
                      </a:solidFill>
                      <a:prstDash val="solid"/>
                    </a:lnB>
                    <a:solidFill>
                      <a:srgbClr val="F5F7F8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보관과 복구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4D4"/>
                      </a:solidFill>
                      <a:prstDash val="solid"/>
                    </a:lnL>
                    <a:lnR w="9525">
                      <a:solidFill>
                        <a:srgbClr val="D4D4D4"/>
                      </a:solidFill>
                      <a:prstDash val="solid"/>
                    </a:lnR>
                    <a:lnB w="9525">
                      <a:solidFill>
                        <a:srgbClr val="D4D4D4"/>
                      </a:solidFill>
                      <a:prstDash val="solid"/>
                    </a:lnB>
                    <a:solidFill>
                      <a:srgbClr val="F1ED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백업 · 아카이브 · 휴지통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4D4"/>
                      </a:solidFill>
                      <a:prstDash val="solid"/>
                    </a:lnR>
                    <a:lnB w="9525">
                      <a:solidFill>
                        <a:srgbClr val="D4D4D4"/>
                      </a:solidFill>
                      <a:prstDash val="solid"/>
                    </a:lnB>
                    <a:solidFill>
                      <a:srgbClr val="F5F7F8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실습 사본 범위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4D4"/>
                      </a:solidFill>
                      <a:prstDash val="solid"/>
                    </a:lnL>
                    <a:lnR w="9525">
                      <a:solidFill>
                        <a:srgbClr val="D4D4D4"/>
                      </a:solidFill>
                      <a:prstDash val="solid"/>
                    </a:lnR>
                    <a:lnB w="9525">
                      <a:solidFill>
                        <a:srgbClr val="D4D4D4"/>
                      </a:solidFill>
                      <a:prstDash val="solid"/>
                    </a:lnB>
                    <a:solidFill>
                      <a:srgbClr val="F1ED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메뉴 탐색 제공. 업로드·삭제·결제·설정 저장은 실행되지 않습니다.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4D4"/>
                      </a:solidFill>
                      <a:prstDash val="solid"/>
                    </a:lnR>
                    <a:lnB w="9525">
                      <a:solidFill>
                        <a:srgbClr val="D4D4D4"/>
                      </a:solidFill>
                      <a:prstDash val="solid"/>
                    </a:lnB>
                    <a:solidFill>
                      <a:srgbClr val="F5F7F8"/>
                    </a:solidFill>
                  </a:tcPr>
                </a:tc>
              </a:tr>
            </a:tbl>
          </a:graphicData>
        </a:graphic>
      </p:graphicFrame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E9640E-CB76-4AE0-AE25-C161C2EDA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371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250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250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250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250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250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250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250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250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250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67519E"/>
                </a:solidFill>
                <a:latin typeface="Malgun Gothic"/>
                <a:ea typeface="Malgun Gothic"/>
                <a:cs typeface="Malgun Gothic"/>
              </a:rPr>
              <a:t>실습 앱  acmexii.github.io/cloudikehome/app/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772B39-22CD-4693-BC85-A3C7F8710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62750"/>
            <a:ext cx="13620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rPr>
              <a:t>화면의 계정·문서·IP는 예시입니다. 전자결재 본문은 Trial 요금제에서 접근이 제한됩니다.</a:t>
            </a:r>
          </a:p>
          <a:p xmlns:a="http://schemas.openxmlformats.org/drawingml/2006/main">
            <a:pPr>
              <a:defRPr sz="180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rPr>
              <a:t>요금제 등 실제 도입 조건은 공식 안내와 계약 내용을 확인해 주세요.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71299B-91C6-4F64-A5DB-0AF8784BE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10525"/>
            <a:ext cx="1228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rPr>
              <a:t>클라우다이크 앱 기능소개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98CAE1-4A47-4A98-A2F1-4C277B4E5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79914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86868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187603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2026-10-25T05:57:25.3370000Z</dcterms:created>
  <dcterms:modified xsi:type="dcterms:W3CDTF">2026-10-25T05:57:25.3370000Z</dcterms:modified>
</coreProperties>
</file>